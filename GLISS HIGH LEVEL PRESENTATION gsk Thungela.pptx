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9" r:id="rId1"/>
  </p:sldMasterIdLst>
  <p:notesMasterIdLst>
    <p:notesMasterId r:id="rId8"/>
  </p:notesMasterIdLst>
  <p:sldIdLst>
    <p:sldId id="256" r:id="rId2"/>
    <p:sldId id="258" r:id="rId3"/>
    <p:sldId id="262" r:id="rId4"/>
    <p:sldId id="264" r:id="rId5"/>
    <p:sldId id="266" r:id="rId6"/>
    <p:sldId id="271" r:id="rId7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9C4A88-8B09-459E-B440-D2D27E413285}" v="1" dt="2025-07-17T18:59:52.911"/>
    <p1510:client id="{25922CFE-3C3D-4CBA-8CEF-6D6C77065B7E}" v="54" dt="2025-07-17T12:31:52.6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10" d="100"/>
          <a:sy n="110" d="100"/>
        </p:scale>
        <p:origin x="16" y="-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busiso Khumalo" userId="3d0e03ade21b5d31" providerId="LiveId" clId="{219C4A88-8B09-459E-B440-D2D27E413285}"/>
    <pc:docChg chg="delSld modSld">
      <pc:chgData name="Sibusiso Khumalo" userId="3d0e03ade21b5d31" providerId="LiveId" clId="{219C4A88-8B09-459E-B440-D2D27E413285}" dt="2025-07-17T19:26:45.128" v="243" actId="1076"/>
      <pc:docMkLst>
        <pc:docMk/>
      </pc:docMkLst>
      <pc:sldChg chg="del">
        <pc:chgData name="Sibusiso Khumalo" userId="3d0e03ade21b5d31" providerId="LiveId" clId="{219C4A88-8B09-459E-B440-D2D27E413285}" dt="2025-07-17T18:46:00.162" v="27" actId="2696"/>
        <pc:sldMkLst>
          <pc:docMk/>
          <pc:sldMk cId="0" sldId="259"/>
        </pc:sldMkLst>
      </pc:sldChg>
      <pc:sldChg chg="modSp mod modShow">
        <pc:chgData name="Sibusiso Khumalo" userId="3d0e03ade21b5d31" providerId="LiveId" clId="{219C4A88-8B09-459E-B440-D2D27E413285}" dt="2025-07-17T19:26:45.128" v="243" actId="1076"/>
        <pc:sldMkLst>
          <pc:docMk/>
          <pc:sldMk cId="0" sldId="264"/>
        </pc:sldMkLst>
        <pc:spChg chg="mod">
          <ac:chgData name="Sibusiso Khumalo" userId="3d0e03ade21b5d31" providerId="LiveId" clId="{219C4A88-8B09-459E-B440-D2D27E413285}" dt="2025-07-17T19:26:45.128" v="243" actId="1076"/>
          <ac:spMkLst>
            <pc:docMk/>
            <pc:sldMk cId="0" sldId="264"/>
            <ac:spMk id="3" creationId="{00000000-0000-0000-0000-000000000000}"/>
          </ac:spMkLst>
        </pc:spChg>
        <pc:spChg chg="mod">
          <ac:chgData name="Sibusiso Khumalo" userId="3d0e03ade21b5d31" providerId="LiveId" clId="{219C4A88-8B09-459E-B440-D2D27E413285}" dt="2025-07-17T19:00:10.858" v="98" actId="20577"/>
          <ac:spMkLst>
            <pc:docMk/>
            <pc:sldMk cId="0" sldId="264"/>
            <ac:spMk id="9" creationId="{00000000-0000-0000-0000-000000000000}"/>
          </ac:spMkLst>
        </pc:spChg>
        <pc:spChg chg="mod">
          <ac:chgData name="Sibusiso Khumalo" userId="3d0e03ade21b5d31" providerId="LiveId" clId="{219C4A88-8B09-459E-B440-D2D27E413285}" dt="2025-07-17T19:02:36.015" v="145" actId="1076"/>
          <ac:spMkLst>
            <pc:docMk/>
            <pc:sldMk cId="0" sldId="264"/>
            <ac:spMk id="10" creationId="{00000000-0000-0000-0000-000000000000}"/>
          </ac:spMkLst>
        </pc:spChg>
        <pc:spChg chg="mod">
          <ac:chgData name="Sibusiso Khumalo" userId="3d0e03ade21b5d31" providerId="LiveId" clId="{219C4A88-8B09-459E-B440-D2D27E413285}" dt="2025-07-17T19:04:16.207" v="146"/>
          <ac:spMkLst>
            <pc:docMk/>
            <pc:sldMk cId="0" sldId="264"/>
            <ac:spMk id="12" creationId="{00000000-0000-0000-0000-000000000000}"/>
          </ac:spMkLst>
        </pc:spChg>
        <pc:spChg chg="mod">
          <ac:chgData name="Sibusiso Khumalo" userId="3d0e03ade21b5d31" providerId="LiveId" clId="{219C4A88-8B09-459E-B440-D2D27E413285}" dt="2025-07-17T19:05:05.459" v="168" actId="1076"/>
          <ac:spMkLst>
            <pc:docMk/>
            <pc:sldMk cId="0" sldId="264"/>
            <ac:spMk id="13" creationId="{00000000-0000-0000-0000-000000000000}"/>
          </ac:spMkLst>
        </pc:spChg>
        <pc:spChg chg="mod">
          <ac:chgData name="Sibusiso Khumalo" userId="3d0e03ade21b5d31" providerId="LiveId" clId="{219C4A88-8B09-459E-B440-D2D27E413285}" dt="2025-07-17T19:23:32.654" v="242" actId="1076"/>
          <ac:spMkLst>
            <pc:docMk/>
            <pc:sldMk cId="0" sldId="264"/>
            <ac:spMk id="15" creationId="{00000000-0000-0000-0000-000000000000}"/>
          </ac:spMkLst>
        </pc:spChg>
        <pc:spChg chg="mod">
          <ac:chgData name="Sibusiso Khumalo" userId="3d0e03ade21b5d31" providerId="LiveId" clId="{219C4A88-8B09-459E-B440-D2D27E413285}" dt="2025-07-17T19:21:21.086" v="239" actId="20577"/>
          <ac:spMkLst>
            <pc:docMk/>
            <pc:sldMk cId="0" sldId="264"/>
            <ac:spMk id="16" creationId="{00000000-0000-0000-0000-000000000000}"/>
          </ac:spMkLst>
        </pc:spChg>
        <pc:spChg chg="mod">
          <ac:chgData name="Sibusiso Khumalo" userId="3d0e03ade21b5d31" providerId="LiveId" clId="{219C4A88-8B09-459E-B440-D2D27E413285}" dt="2025-07-17T19:21:29.148" v="240" actId="1076"/>
          <ac:spMkLst>
            <pc:docMk/>
            <pc:sldMk cId="0" sldId="264"/>
            <ac:spMk id="18" creationId="{00000000-0000-0000-0000-000000000000}"/>
          </ac:spMkLst>
        </pc:spChg>
        <pc:spChg chg="mod">
          <ac:chgData name="Sibusiso Khumalo" userId="3d0e03ade21b5d31" providerId="LiveId" clId="{219C4A88-8B09-459E-B440-D2D27E413285}" dt="2025-07-17T19:21:37.635" v="241" actId="1076"/>
          <ac:spMkLst>
            <pc:docMk/>
            <pc:sldMk cId="0" sldId="264"/>
            <ac:spMk id="19" creationId="{00000000-0000-0000-0000-000000000000}"/>
          </ac:spMkLst>
        </pc:spChg>
      </pc:sldChg>
      <pc:sldChg chg="modSp mod">
        <pc:chgData name="Sibusiso Khumalo" userId="3d0e03ade21b5d31" providerId="LiveId" clId="{219C4A88-8B09-459E-B440-D2D27E413285}" dt="2025-07-17T18:45:44.072" v="26" actId="20577"/>
        <pc:sldMkLst>
          <pc:docMk/>
          <pc:sldMk cId="0" sldId="266"/>
        </pc:sldMkLst>
        <pc:spChg chg="mod">
          <ac:chgData name="Sibusiso Khumalo" userId="3d0e03ade21b5d31" providerId="LiveId" clId="{219C4A88-8B09-459E-B440-D2D27E413285}" dt="2025-07-17T18:44:52.214" v="17" actId="113"/>
          <ac:spMkLst>
            <pc:docMk/>
            <pc:sldMk cId="0" sldId="266"/>
            <ac:spMk id="11" creationId="{00000000-0000-0000-0000-000000000000}"/>
          </ac:spMkLst>
        </pc:spChg>
        <pc:spChg chg="mod">
          <ac:chgData name="Sibusiso Khumalo" userId="3d0e03ade21b5d31" providerId="LiveId" clId="{219C4A88-8B09-459E-B440-D2D27E413285}" dt="2025-07-17T18:44:44.186" v="16" actId="113"/>
          <ac:spMkLst>
            <pc:docMk/>
            <pc:sldMk cId="0" sldId="266"/>
            <ac:spMk id="17" creationId="{00000000-0000-0000-0000-000000000000}"/>
          </ac:spMkLst>
        </pc:spChg>
        <pc:spChg chg="mod">
          <ac:chgData name="Sibusiso Khumalo" userId="3d0e03ade21b5d31" providerId="LiveId" clId="{219C4A88-8B09-459E-B440-D2D27E413285}" dt="2025-07-17T18:44:57.573" v="18" actId="113"/>
          <ac:spMkLst>
            <pc:docMk/>
            <pc:sldMk cId="0" sldId="266"/>
            <ac:spMk id="22" creationId="{00000000-0000-0000-0000-000000000000}"/>
          </ac:spMkLst>
        </pc:spChg>
        <pc:spChg chg="mod">
          <ac:chgData name="Sibusiso Khumalo" userId="3d0e03ade21b5d31" providerId="LiveId" clId="{219C4A88-8B09-459E-B440-D2D27E413285}" dt="2025-07-17T18:44:34.641" v="15" actId="113"/>
          <ac:spMkLst>
            <pc:docMk/>
            <pc:sldMk cId="0" sldId="266"/>
            <ac:spMk id="27" creationId="{00000000-0000-0000-0000-000000000000}"/>
          </ac:spMkLst>
        </pc:spChg>
        <pc:spChg chg="mod">
          <ac:chgData name="Sibusiso Khumalo" userId="3d0e03ade21b5d31" providerId="LiveId" clId="{219C4A88-8B09-459E-B440-D2D27E413285}" dt="2025-07-17T18:45:20.740" v="21" actId="20577"/>
          <ac:spMkLst>
            <pc:docMk/>
            <pc:sldMk cId="0" sldId="266"/>
            <ac:spMk id="35" creationId="{5C96BC99-E896-9037-B3F4-17C6AE944312}"/>
          </ac:spMkLst>
        </pc:spChg>
        <pc:spChg chg="mod">
          <ac:chgData name="Sibusiso Khumalo" userId="3d0e03ade21b5d31" providerId="LiveId" clId="{219C4A88-8B09-459E-B440-D2D27E413285}" dt="2025-07-17T18:45:44.072" v="26" actId="20577"/>
          <ac:spMkLst>
            <pc:docMk/>
            <pc:sldMk cId="0" sldId="266"/>
            <ac:spMk id="40" creationId="{08A20259-634E-D503-AB86-F39619FDA71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5437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409575" y="-3572"/>
            <a:ext cx="3761184" cy="5147072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96301" y="1035052"/>
            <a:ext cx="6430967" cy="1962149"/>
          </a:xfrm>
        </p:spPr>
        <p:txBody>
          <a:bodyPr anchor="b">
            <a:normAutofit/>
          </a:bodyPr>
          <a:lstStyle>
            <a:lvl1pPr algn="r">
              <a:defRPr sz="45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86533" y="2997200"/>
            <a:ext cx="5240734" cy="1041401"/>
          </a:xfrm>
        </p:spPr>
        <p:txBody>
          <a:bodyPr anchor="t">
            <a:normAutofit/>
          </a:bodyPr>
          <a:lstStyle>
            <a:lvl1pPr marL="0" indent="0" algn="r">
              <a:buNone/>
              <a:defRPr sz="1575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99309" y="4412457"/>
            <a:ext cx="3243033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5483928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13893" y="4400349"/>
            <a:ext cx="413375" cy="273844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143765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9210" y="2000249"/>
            <a:ext cx="6698060" cy="1582787"/>
          </a:xfrm>
        </p:spPr>
        <p:txBody>
          <a:bodyPr anchor="b"/>
          <a:lstStyle>
            <a:lvl1pPr algn="r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29209" y="3583036"/>
            <a:ext cx="6698061" cy="645300"/>
          </a:xfrm>
        </p:spPr>
        <p:txBody>
          <a:bodyPr anchor="t">
            <a:normAutofit/>
          </a:bodyPr>
          <a:lstStyle>
            <a:lvl1pPr marL="0" indent="0" algn="r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9159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234" y="514351"/>
            <a:ext cx="7514035" cy="13144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13235" y="2000250"/>
            <a:ext cx="3671291" cy="2343151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5975" y="2000250"/>
            <a:ext cx="3671292" cy="2343150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7/17/2025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60993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134" y="1993900"/>
            <a:ext cx="3455391" cy="432197"/>
          </a:xfrm>
        </p:spPr>
        <p:txBody>
          <a:bodyPr anchor="b">
            <a:noAutofit/>
          </a:bodyPr>
          <a:lstStyle>
            <a:lvl1pPr marL="0" indent="0">
              <a:buNone/>
              <a:defRPr sz="2100" b="0">
                <a:solidFill>
                  <a:schemeClr val="accent1">
                    <a:lumMod val="7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233" y="2501503"/>
            <a:ext cx="3671292" cy="1841897"/>
          </a:xfrm>
        </p:spPr>
        <p:txBody>
          <a:bodyPr anchor="t"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0366" y="2000250"/>
            <a:ext cx="3466903" cy="432197"/>
          </a:xfrm>
        </p:spPr>
        <p:txBody>
          <a:bodyPr anchor="b">
            <a:noAutofit/>
          </a:bodyPr>
          <a:lstStyle>
            <a:lvl1pPr marL="0" indent="0">
              <a:buNone/>
              <a:defRPr sz="2100" b="0">
                <a:solidFill>
                  <a:schemeClr val="accent1">
                    <a:lumMod val="7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5975" y="2501503"/>
            <a:ext cx="3671292" cy="1841897"/>
          </a:xfrm>
        </p:spPr>
        <p:txBody>
          <a:bodyPr anchor="t"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397873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323023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411161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234" y="1200150"/>
            <a:ext cx="2661841" cy="1028700"/>
          </a:xfrm>
        </p:spPr>
        <p:txBody>
          <a:bodyPr anchor="b">
            <a:normAutofit/>
          </a:bodyPr>
          <a:lstStyle>
            <a:lvl1pPr algn="ctr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6525" y="514350"/>
            <a:ext cx="4680743" cy="3829051"/>
          </a:xfrm>
        </p:spPr>
        <p:txBody>
          <a:bodyPr anchor="ctr"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234" y="2228850"/>
            <a:ext cx="2661841" cy="1371600"/>
          </a:xfrm>
        </p:spPr>
        <p:txBody>
          <a:bodyPr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7/17/2025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5021748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043" y="1314449"/>
            <a:ext cx="4069619" cy="1028700"/>
          </a:xfrm>
        </p:spPr>
        <p:txBody>
          <a:bodyPr anchor="b">
            <a:normAutofit/>
          </a:bodyPr>
          <a:lstStyle>
            <a:lvl1pPr algn="ctr">
              <a:defRPr sz="21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6011" y="685800"/>
            <a:ext cx="2460731" cy="3429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043" y="2343149"/>
            <a:ext cx="4069619" cy="1371600"/>
          </a:xfrm>
        </p:spPr>
        <p:txBody>
          <a:bodyPr>
            <a:normAutofit/>
          </a:bodyPr>
          <a:lstStyle>
            <a:lvl1pPr marL="0" indent="0" algn="ctr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002854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234" y="3549649"/>
            <a:ext cx="7514033" cy="425054"/>
          </a:xfrm>
        </p:spPr>
        <p:txBody>
          <a:bodyPr anchor="b">
            <a:normAutofit/>
          </a:bodyPr>
          <a:lstStyle>
            <a:lvl1pPr algn="ctr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509" y="699084"/>
            <a:ext cx="6169458" cy="2373732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234" y="3974702"/>
            <a:ext cx="7514033" cy="370284"/>
          </a:xfrm>
        </p:spPr>
        <p:txBody>
          <a:bodyPr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905245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235" y="514350"/>
            <a:ext cx="7514033" cy="2286000"/>
          </a:xfrm>
        </p:spPr>
        <p:txBody>
          <a:bodyPr anchor="ctr">
            <a:normAutofit/>
          </a:bodyPr>
          <a:lstStyle>
            <a:lvl1pPr algn="ctr">
              <a:defRPr sz="2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234" y="3257550"/>
            <a:ext cx="7514035" cy="10858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541846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198959" y="64726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0069" y="2114549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6159" y="514351"/>
            <a:ext cx="6742509" cy="2057399"/>
          </a:xfrm>
        </p:spPr>
        <p:txBody>
          <a:bodyPr anchor="ctr">
            <a:normAutofit/>
          </a:bodyPr>
          <a:lstStyle>
            <a:lvl1pPr algn="ctr">
              <a:defRPr sz="24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827609" y="2571749"/>
            <a:ext cx="6399611" cy="28575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350"/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234" y="3257550"/>
            <a:ext cx="7514033" cy="10858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9907148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235" y="2481436"/>
            <a:ext cx="7514032" cy="1101600"/>
          </a:xfrm>
        </p:spPr>
        <p:txBody>
          <a:bodyPr anchor="b">
            <a:normAutofit/>
          </a:bodyPr>
          <a:lstStyle>
            <a:lvl1pPr algn="r">
              <a:defRPr sz="2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234" y="3583036"/>
            <a:ext cx="7514033" cy="645300"/>
          </a:xfrm>
        </p:spPr>
        <p:txBody>
          <a:bodyPr anchor="t">
            <a:normAutofit/>
          </a:bodyPr>
          <a:lstStyle>
            <a:lvl1pPr marL="0" indent="0" algn="r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700444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198959" y="64726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0069" y="2114549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6159" y="514351"/>
            <a:ext cx="6742509" cy="2057399"/>
          </a:xfrm>
        </p:spPr>
        <p:txBody>
          <a:bodyPr anchor="ctr">
            <a:normAutofit/>
          </a:bodyPr>
          <a:lstStyle>
            <a:lvl1pPr algn="ctr">
              <a:defRPr sz="24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235" y="2914650"/>
            <a:ext cx="7514033" cy="66675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1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234" y="3581400"/>
            <a:ext cx="7514033" cy="762000"/>
          </a:xfrm>
        </p:spPr>
        <p:txBody>
          <a:bodyPr anchor="t">
            <a:normAutofit/>
          </a:bodyPr>
          <a:lstStyle>
            <a:lvl1pPr marL="0" indent="0" algn="r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1309764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235" y="514350"/>
            <a:ext cx="7514034" cy="2045494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234" y="2628900"/>
            <a:ext cx="7514035" cy="62865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1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234" y="3257550"/>
            <a:ext cx="7514035" cy="108585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3248329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7/17/2025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4314742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299492" y="514350"/>
            <a:ext cx="1327777" cy="38290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234" y="514350"/>
            <a:ext cx="6014807" cy="382905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879262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61526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bg1">
              <a:lumMod val="8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13109" y="0"/>
            <a:ext cx="1827610" cy="51435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13234" y="514351"/>
            <a:ext cx="7514035" cy="131444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233" y="2000250"/>
            <a:ext cx="7514035" cy="2343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9492" y="4412457"/>
            <a:ext cx="85725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smtClean="0"/>
              <a:pPr/>
              <a:t>7/17/2025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29210" y="4412457"/>
            <a:ext cx="531313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13893" y="4412457"/>
            <a:ext cx="41337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9374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  <p:sldLayoutId id="2147483687" r:id="rId18"/>
  </p:sldLayoutIdLst>
  <p:hf sldNum="0" hdr="0" ftr="0" dt="0"/>
  <p:txStyles>
    <p:titleStyle>
      <a:lvl1pPr algn="ctr" defTabSz="342900" rtl="0" eaLnBrk="1" latinLnBrk="0" hangingPunct="1">
        <a:spcBef>
          <a:spcPct val="0"/>
        </a:spcBef>
        <a:buNone/>
        <a:defRPr sz="3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143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5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9001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35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157288" indent="-128588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500188" indent="-128588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05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05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05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05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05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jp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2.jpeg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e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6.png"/><Relationship Id="rId5" Type="http://schemas.openxmlformats.org/officeDocument/2006/relationships/image" Target="../media/image15.jpe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5143499"/>
            <a:ext cx="9144000" cy="45719"/>
          </a:xfrm>
          <a:custGeom>
            <a:avLst/>
            <a:gdLst/>
            <a:ahLst/>
            <a:cxnLst/>
            <a:rect l="l" t="t" r="r" b="b"/>
            <a:pathLst>
              <a:path w="9144000" h="2286000">
                <a:moveTo>
                  <a:pt x="0" y="0"/>
                </a:moveTo>
                <a:lnTo>
                  <a:pt x="9144000" y="0"/>
                </a:lnTo>
                <a:lnTo>
                  <a:pt x="9144000" y="2286000"/>
                </a:lnTo>
                <a:lnTo>
                  <a:pt x="0" y="2286000"/>
                </a:lnTo>
                <a:close/>
              </a:path>
            </a:pathLst>
          </a:custGeom>
          <a:solidFill>
            <a:schemeClr val="bg1"/>
          </a:solidFill>
          <a:ln/>
        </p:spPr>
        <p:txBody>
          <a:bodyPr/>
          <a:lstStyle/>
          <a:p>
            <a:endParaRPr lang="en-ZA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3286" y="0"/>
            <a:ext cx="3430715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00683" y="1864752"/>
            <a:ext cx="4754880" cy="1965153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lnSpc>
                <a:spcPct val="96000"/>
              </a:lnSpc>
              <a:spcBef>
                <a:spcPts val="375"/>
              </a:spcBef>
            </a:pPr>
            <a:r>
              <a:rPr lang="en-US" sz="30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Gliss Projects Pty Ltd: Comprehensive Overview of Mining and Construction Services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14917" y="320888"/>
            <a:ext cx="7315200" cy="45105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2100" b="1" dirty="0">
                <a:solidFill>
                  <a:srgbClr val="1E32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Overview</a:t>
            </a:r>
            <a:endParaRPr lang="en-US" sz="1500" dirty="0"/>
          </a:p>
        </p:txBody>
      </p:sp>
      <p:sp>
        <p:nvSpPr>
          <p:cNvPr id="3" name="Shape 1"/>
          <p:cNvSpPr/>
          <p:nvPr/>
        </p:nvSpPr>
        <p:spPr>
          <a:xfrm>
            <a:off x="6799438" y="1756410"/>
            <a:ext cx="1630680" cy="1630680"/>
          </a:xfrm>
          <a:custGeom>
            <a:avLst/>
            <a:gdLst/>
            <a:ahLst/>
            <a:cxnLst/>
            <a:rect l="l" t="t" r="r" b="b"/>
            <a:pathLst>
              <a:path w="1630680" h="1630680">
                <a:moveTo>
                  <a:pt x="815340" y="0"/>
                </a:moveTo>
                <a:cubicBezTo>
                  <a:pt x="1265338" y="0"/>
                  <a:pt x="1630680" y="365342"/>
                  <a:pt x="1630680" y="815340"/>
                </a:cubicBezTo>
                <a:cubicBezTo>
                  <a:pt x="1630680" y="1265338"/>
                  <a:pt x="1265338" y="1630680"/>
                  <a:pt x="815340" y="1630680"/>
                </a:cubicBezTo>
                <a:cubicBezTo>
                  <a:pt x="365342" y="1630680"/>
                  <a:pt x="0" y="1265338"/>
                  <a:pt x="0" y="815340"/>
                </a:cubicBezTo>
                <a:cubicBezTo>
                  <a:pt x="0" y="365342"/>
                  <a:pt x="365342" y="0"/>
                  <a:pt x="815340" y="0"/>
                </a:cubicBezTo>
                <a:close/>
              </a:path>
            </a:pathLst>
          </a:custGeom>
          <a:solidFill>
            <a:srgbClr val="002060"/>
          </a:solidFill>
          <a:ln w="19050">
            <a:solidFill>
              <a:srgbClr val="1E325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Shape 2"/>
          <p:cNvSpPr/>
          <p:nvPr/>
        </p:nvSpPr>
        <p:spPr>
          <a:xfrm>
            <a:off x="7170047" y="2127019"/>
            <a:ext cx="889462" cy="889462"/>
          </a:xfrm>
          <a:custGeom>
            <a:avLst/>
            <a:gdLst/>
            <a:ahLst/>
            <a:cxnLst/>
            <a:rect l="l" t="t" r="r" b="b"/>
            <a:pathLst>
              <a:path w="889462" h="889462">
                <a:moveTo>
                  <a:pt x="444731" y="0"/>
                </a:moveTo>
                <a:cubicBezTo>
                  <a:pt x="690185" y="0"/>
                  <a:pt x="889462" y="199277"/>
                  <a:pt x="889462" y="444731"/>
                </a:cubicBezTo>
                <a:cubicBezTo>
                  <a:pt x="889462" y="690185"/>
                  <a:pt x="690185" y="889462"/>
                  <a:pt x="444731" y="889462"/>
                </a:cubicBezTo>
                <a:cubicBezTo>
                  <a:pt x="199277" y="889462"/>
                  <a:pt x="0" y="690185"/>
                  <a:pt x="0" y="444731"/>
                </a:cubicBezTo>
                <a:cubicBezTo>
                  <a:pt x="0" y="199277"/>
                  <a:pt x="199277" y="0"/>
                  <a:pt x="444731" y="0"/>
                </a:cubicBez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/>
        </p:spPr>
        <p:txBody>
          <a:bodyPr/>
          <a:lstStyle/>
          <a:p>
            <a:endParaRPr lang="en-ZA"/>
          </a:p>
        </p:txBody>
      </p:sp>
      <p:sp>
        <p:nvSpPr>
          <p:cNvPr id="6" name="Shape 3"/>
          <p:cNvSpPr/>
          <p:nvPr/>
        </p:nvSpPr>
        <p:spPr>
          <a:xfrm>
            <a:off x="6502950" y="2275263"/>
            <a:ext cx="592975" cy="592975"/>
          </a:xfrm>
          <a:custGeom>
            <a:avLst/>
            <a:gdLst/>
            <a:ahLst/>
            <a:cxnLst/>
            <a:rect l="l" t="t" r="r" b="b"/>
            <a:pathLst>
              <a:path w="592975" h="592975">
                <a:moveTo>
                  <a:pt x="296487" y="0"/>
                </a:moveTo>
                <a:cubicBezTo>
                  <a:pt x="460123" y="0"/>
                  <a:pt x="592975" y="132851"/>
                  <a:pt x="592975" y="296487"/>
                </a:cubicBezTo>
                <a:cubicBezTo>
                  <a:pt x="592975" y="460123"/>
                  <a:pt x="460123" y="592975"/>
                  <a:pt x="296487" y="592975"/>
                </a:cubicBezTo>
                <a:cubicBezTo>
                  <a:pt x="132851" y="592975"/>
                  <a:pt x="0" y="460123"/>
                  <a:pt x="0" y="296487"/>
                </a:cubicBezTo>
                <a:cubicBezTo>
                  <a:pt x="0" y="132851"/>
                  <a:pt x="132851" y="0"/>
                  <a:pt x="296487" y="0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7" name="Image 1" descr="https://osspub.smallppt.com/uploadFile/template/20240605192848A33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0011" y="2323490"/>
            <a:ext cx="444731" cy="444731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318290" y="1459923"/>
            <a:ext cx="592975" cy="592975"/>
          </a:xfrm>
          <a:custGeom>
            <a:avLst/>
            <a:gdLst/>
            <a:ahLst/>
            <a:cxnLst/>
            <a:rect l="l" t="t" r="r" b="b"/>
            <a:pathLst>
              <a:path w="592975" h="592975">
                <a:moveTo>
                  <a:pt x="296487" y="0"/>
                </a:moveTo>
                <a:cubicBezTo>
                  <a:pt x="460123" y="0"/>
                  <a:pt x="592975" y="132851"/>
                  <a:pt x="592975" y="296487"/>
                </a:cubicBezTo>
                <a:cubicBezTo>
                  <a:pt x="592975" y="460123"/>
                  <a:pt x="460123" y="592975"/>
                  <a:pt x="296487" y="592975"/>
                </a:cubicBezTo>
                <a:cubicBezTo>
                  <a:pt x="132851" y="592975"/>
                  <a:pt x="0" y="460123"/>
                  <a:pt x="0" y="296487"/>
                </a:cubicBezTo>
                <a:cubicBezTo>
                  <a:pt x="0" y="132851"/>
                  <a:pt x="132851" y="0"/>
                  <a:pt x="296487" y="0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9" name="Image 2" descr="https://osspub.smallppt.com/uploadFile/template/20240605183206A00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2412" y="1534354"/>
            <a:ext cx="444731" cy="444731"/>
          </a:xfrm>
          <a:prstGeom prst="rect">
            <a:avLst/>
          </a:prstGeom>
          <a:blipFill>
            <a:blip r:embed="rId6"/>
            <a:tile tx="0" ty="0" sx="100000" sy="100000" flip="none" algn="tl"/>
          </a:blipFill>
          <a:ln>
            <a:noFill/>
          </a:ln>
        </p:spPr>
      </p:pic>
      <p:sp>
        <p:nvSpPr>
          <p:cNvPr id="10" name="Shape 5"/>
          <p:cNvSpPr/>
          <p:nvPr/>
        </p:nvSpPr>
        <p:spPr>
          <a:xfrm>
            <a:off x="8133630" y="2275263"/>
            <a:ext cx="592975" cy="592975"/>
          </a:xfrm>
          <a:custGeom>
            <a:avLst/>
            <a:gdLst/>
            <a:ahLst/>
            <a:cxnLst/>
            <a:rect l="l" t="t" r="r" b="b"/>
            <a:pathLst>
              <a:path w="592975" h="592975">
                <a:moveTo>
                  <a:pt x="296487" y="0"/>
                </a:moveTo>
                <a:cubicBezTo>
                  <a:pt x="460123" y="0"/>
                  <a:pt x="592975" y="132851"/>
                  <a:pt x="592975" y="296487"/>
                </a:cubicBezTo>
                <a:cubicBezTo>
                  <a:pt x="592975" y="460123"/>
                  <a:pt x="460123" y="592975"/>
                  <a:pt x="296487" y="592975"/>
                </a:cubicBezTo>
                <a:cubicBezTo>
                  <a:pt x="132851" y="592975"/>
                  <a:pt x="0" y="460123"/>
                  <a:pt x="0" y="296487"/>
                </a:cubicBezTo>
                <a:cubicBezTo>
                  <a:pt x="0" y="132851"/>
                  <a:pt x="132851" y="0"/>
                  <a:pt x="296487" y="0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11" name="Image 3" descr="https://osspub.smallppt.com/uploadFile/20240605192936A34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83547" y="2349694"/>
            <a:ext cx="444731" cy="444731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7318290" y="3090603"/>
            <a:ext cx="592975" cy="592975"/>
          </a:xfrm>
          <a:custGeom>
            <a:avLst/>
            <a:gdLst/>
            <a:ahLst/>
            <a:cxnLst/>
            <a:rect l="l" t="t" r="r" b="b"/>
            <a:pathLst>
              <a:path w="592975" h="592975">
                <a:moveTo>
                  <a:pt x="296487" y="0"/>
                </a:moveTo>
                <a:cubicBezTo>
                  <a:pt x="460123" y="0"/>
                  <a:pt x="592975" y="132851"/>
                  <a:pt x="592975" y="296487"/>
                </a:cubicBezTo>
                <a:cubicBezTo>
                  <a:pt x="592975" y="460123"/>
                  <a:pt x="460123" y="592975"/>
                  <a:pt x="296487" y="592975"/>
                </a:cubicBezTo>
                <a:cubicBezTo>
                  <a:pt x="132851" y="592975"/>
                  <a:pt x="0" y="460123"/>
                  <a:pt x="0" y="296487"/>
                </a:cubicBezTo>
                <a:cubicBezTo>
                  <a:pt x="0" y="132851"/>
                  <a:pt x="132851" y="0"/>
                  <a:pt x="296487" y="0"/>
                </a:cubic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13" name="Image 4" descr="https://osspub.smallppt.com/uploadFile/20240605192949A34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92412" y="3165034"/>
            <a:ext cx="444731" cy="444731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 rot="10800000">
            <a:off x="8381390" y="274320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182880" y="91440"/>
                </a:moveTo>
                <a:lnTo>
                  <a:pt x="101126" y="0"/>
                </a:lnTo>
                <a:lnTo>
                  <a:pt x="0" y="0"/>
                </a:lnTo>
                <a:lnTo>
                  <a:pt x="81754" y="91440"/>
                </a:lnTo>
                <a:lnTo>
                  <a:pt x="0" y="182880"/>
                </a:lnTo>
                <a:lnTo>
                  <a:pt x="101126" y="182880"/>
                </a:lnTo>
                <a:close/>
              </a:path>
            </a:pathLst>
          </a:custGeom>
          <a:solidFill>
            <a:srgbClr val="FF882A">
              <a:alpha val="80000"/>
            </a:srgbClr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5" name="Shape 8"/>
          <p:cNvSpPr/>
          <p:nvPr/>
        </p:nvSpPr>
        <p:spPr>
          <a:xfrm rot="10800000">
            <a:off x="8536838" y="274320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182880" y="91440"/>
                </a:moveTo>
                <a:lnTo>
                  <a:pt x="101126" y="0"/>
                </a:lnTo>
                <a:lnTo>
                  <a:pt x="0" y="0"/>
                </a:lnTo>
                <a:lnTo>
                  <a:pt x="81754" y="91440"/>
                </a:lnTo>
                <a:lnTo>
                  <a:pt x="0" y="182880"/>
                </a:lnTo>
                <a:lnTo>
                  <a:pt x="101126" y="182880"/>
                </a:lnTo>
                <a:close/>
              </a:path>
            </a:pathLst>
          </a:custGeom>
          <a:solidFill>
            <a:srgbClr val="FF882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6" name="Text 9"/>
          <p:cNvSpPr/>
          <p:nvPr/>
        </p:nvSpPr>
        <p:spPr>
          <a:xfrm>
            <a:off x="1634078" y="1260188"/>
            <a:ext cx="2377440" cy="572929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Emerging Mining Services Company</a:t>
            </a:r>
            <a:endParaRPr lang="en-US" sz="1500" dirty="0"/>
          </a:p>
        </p:txBody>
      </p:sp>
      <p:sp>
        <p:nvSpPr>
          <p:cNvPr id="17" name="Text 10"/>
          <p:cNvSpPr/>
          <p:nvPr/>
        </p:nvSpPr>
        <p:spPr>
          <a:xfrm>
            <a:off x="796872" y="1853821"/>
            <a:ext cx="2743200" cy="9144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Gliss Projects Pty Ltd is an innovative mining services firm based in Witbank, focused on delivering exceptional service in mining and construction sectors.</a:t>
            </a:r>
            <a:endParaRPr lang="en-US" sz="1500" dirty="0"/>
          </a:p>
        </p:txBody>
      </p:sp>
      <p:sp>
        <p:nvSpPr>
          <p:cNvPr id="18" name="Text 11"/>
          <p:cNvSpPr/>
          <p:nvPr/>
        </p:nvSpPr>
        <p:spPr>
          <a:xfrm>
            <a:off x="972828" y="1303846"/>
            <a:ext cx="509716" cy="451056"/>
          </a:xfrm>
          <a:prstGeom prst="rect">
            <a:avLst/>
          </a:prstGeom>
          <a:solidFill>
            <a:srgbClr val="002060"/>
          </a:solidFill>
          <a:ln w="1905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95250" tIns="95250" rIns="95250" bIns="95250" rtlCol="0" anchor="t">
            <a:spAutoFit/>
          </a:bodyPr>
          <a:lstStyle/>
          <a:p>
            <a:pPr algn="ctr">
              <a:lnSpc>
                <a:spcPct val="80000"/>
              </a:lnSpc>
              <a:spcBef>
                <a:spcPts val="375"/>
              </a:spcBef>
            </a:pPr>
            <a:r>
              <a:rPr lang="en-US" sz="2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19" name="Text 12"/>
          <p:cNvSpPr/>
          <p:nvPr/>
        </p:nvSpPr>
        <p:spPr>
          <a:xfrm>
            <a:off x="4241395" y="1325836"/>
            <a:ext cx="2377440" cy="3779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BEE Contribution Status</a:t>
            </a:r>
            <a:endParaRPr lang="en-US" sz="1500" dirty="0"/>
          </a:p>
        </p:txBody>
      </p:sp>
      <p:sp>
        <p:nvSpPr>
          <p:cNvPr id="20" name="Text 13"/>
          <p:cNvSpPr/>
          <p:nvPr/>
        </p:nvSpPr>
        <p:spPr>
          <a:xfrm>
            <a:off x="4168764" y="1675389"/>
            <a:ext cx="2743200" cy="9144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a Level 1 BEE contributor, Gliss Projects is dedicated to fostering economic growth and community development within the regions we operate.</a:t>
            </a:r>
            <a:endParaRPr lang="en-US" sz="1500" dirty="0"/>
          </a:p>
        </p:txBody>
      </p:sp>
      <p:sp>
        <p:nvSpPr>
          <p:cNvPr id="21" name="Text 14"/>
          <p:cNvSpPr/>
          <p:nvPr/>
        </p:nvSpPr>
        <p:spPr>
          <a:xfrm>
            <a:off x="3632444" y="1308826"/>
            <a:ext cx="509716" cy="451056"/>
          </a:xfrm>
          <a:prstGeom prst="rect">
            <a:avLst/>
          </a:prstGeom>
          <a:solidFill>
            <a:srgbClr val="002060"/>
          </a:solidFill>
          <a:ln w="1905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95250" tIns="95250" rIns="95250" bIns="95250" rtlCol="0" anchor="t">
            <a:spAutoFit/>
          </a:bodyPr>
          <a:lstStyle/>
          <a:p>
            <a:pPr algn="ctr">
              <a:lnSpc>
                <a:spcPct val="80000"/>
              </a:lnSpc>
              <a:spcBef>
                <a:spcPts val="375"/>
              </a:spcBef>
            </a:pPr>
            <a:r>
              <a:rPr lang="en-US" sz="2100" b="1" dirty="0">
                <a:solidFill>
                  <a:schemeClr val="bg1">
                    <a:lumMod val="9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2" name="Text 15"/>
          <p:cNvSpPr/>
          <p:nvPr/>
        </p:nvSpPr>
        <p:spPr>
          <a:xfrm>
            <a:off x="1155843" y="3186684"/>
            <a:ext cx="2377440" cy="3779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Diverse Service Offerings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979342" y="3596847"/>
            <a:ext cx="2743200" cy="869469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company specializes in mining services such as plant hire, bulk earthworks, and underground support services, showcasing a wide range of capabilities.</a:t>
            </a:r>
            <a:endParaRPr lang="en-US" sz="1500" dirty="0"/>
          </a:p>
        </p:txBody>
      </p:sp>
      <p:sp>
        <p:nvSpPr>
          <p:cNvPr id="24" name="Text 17"/>
          <p:cNvSpPr/>
          <p:nvPr/>
        </p:nvSpPr>
        <p:spPr>
          <a:xfrm>
            <a:off x="713882" y="3162063"/>
            <a:ext cx="509716" cy="451056"/>
          </a:xfrm>
          <a:prstGeom prst="rect">
            <a:avLst/>
          </a:prstGeom>
          <a:solidFill>
            <a:srgbClr val="002060"/>
          </a:solidFill>
          <a:ln w="1905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95250" tIns="95250" rIns="95250" bIns="95250" rtlCol="0" anchor="t">
            <a:spAutoFit/>
          </a:bodyPr>
          <a:lstStyle/>
          <a:p>
            <a:pPr algn="ctr">
              <a:lnSpc>
                <a:spcPct val="80000"/>
              </a:lnSpc>
              <a:spcBef>
                <a:spcPts val="375"/>
              </a:spcBef>
            </a:pPr>
            <a:r>
              <a:rPr lang="en-US" sz="2100" b="1" dirty="0">
                <a:solidFill>
                  <a:schemeClr val="bg1">
                    <a:lumMod val="9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5" name="Text 18"/>
          <p:cNvSpPr/>
          <p:nvPr/>
        </p:nvSpPr>
        <p:spPr>
          <a:xfrm>
            <a:off x="4197751" y="3201264"/>
            <a:ext cx="2377440" cy="3779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1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Partnerships</a:t>
            </a:r>
            <a:endParaRPr lang="en-US" sz="1500" dirty="0"/>
          </a:p>
        </p:txBody>
      </p:sp>
      <p:sp>
        <p:nvSpPr>
          <p:cNvPr id="26" name="Text 19"/>
          <p:cNvSpPr/>
          <p:nvPr/>
        </p:nvSpPr>
        <p:spPr>
          <a:xfrm>
            <a:off x="4241395" y="3731914"/>
            <a:ext cx="2743347" cy="869469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 strategic alliances, Gliss Projects has enhanced its service offerings, expanding into areas like underground and rehabilitation and contract mining .</a:t>
            </a:r>
            <a:endParaRPr lang="en-US" sz="1500" dirty="0"/>
          </a:p>
        </p:txBody>
      </p:sp>
      <p:sp>
        <p:nvSpPr>
          <p:cNvPr id="27" name="Text 20"/>
          <p:cNvSpPr/>
          <p:nvPr/>
        </p:nvSpPr>
        <p:spPr>
          <a:xfrm>
            <a:off x="3688035" y="3223030"/>
            <a:ext cx="509716" cy="451056"/>
          </a:xfrm>
          <a:prstGeom prst="rect">
            <a:avLst/>
          </a:prstGeom>
          <a:solidFill>
            <a:srgbClr val="002060"/>
          </a:solidFill>
          <a:ln w="19050">
            <a:solidFill>
              <a:srgbClr val="FFFFFF">
                <a:alpha val="0"/>
              </a:srgbClr>
            </a:solidFill>
            <a:prstDash val="solid"/>
          </a:ln>
        </p:spPr>
        <p:txBody>
          <a:bodyPr wrap="square" lIns="95250" tIns="95250" rIns="95250" bIns="95250" rtlCol="0" anchor="t">
            <a:spAutoFit/>
          </a:bodyPr>
          <a:lstStyle/>
          <a:p>
            <a:pPr algn="ctr">
              <a:lnSpc>
                <a:spcPct val="80000"/>
              </a:lnSpc>
              <a:spcBef>
                <a:spcPts val="375"/>
              </a:spcBef>
            </a:pPr>
            <a:r>
              <a:rPr lang="en-US" sz="21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161288" y="171332"/>
            <a:ext cx="5029200" cy="98755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2100" b="1" dirty="0">
                <a:solidFill>
                  <a:srgbClr val="1E32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Three-tier model focuses on contract mining, underground rehabilitation, and material handling.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02429" y="4688417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182880" y="91440"/>
                </a:moveTo>
                <a:lnTo>
                  <a:pt x="101126" y="0"/>
                </a:lnTo>
                <a:lnTo>
                  <a:pt x="0" y="0"/>
                </a:lnTo>
                <a:lnTo>
                  <a:pt x="81754" y="91440"/>
                </a:lnTo>
                <a:lnTo>
                  <a:pt x="0" y="182880"/>
                </a:lnTo>
                <a:lnTo>
                  <a:pt x="101126" y="182880"/>
                </a:lnTo>
                <a:close/>
              </a:path>
            </a:pathLst>
          </a:custGeom>
          <a:solidFill>
            <a:srgbClr val="FF882A">
              <a:alpha val="80000"/>
            </a:srgbClr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5" name="Shape 3"/>
          <p:cNvSpPr/>
          <p:nvPr/>
        </p:nvSpPr>
        <p:spPr>
          <a:xfrm rot="10800000">
            <a:off x="8381390" y="274320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182880" y="91440"/>
                </a:moveTo>
                <a:lnTo>
                  <a:pt x="101126" y="0"/>
                </a:lnTo>
                <a:lnTo>
                  <a:pt x="0" y="0"/>
                </a:lnTo>
                <a:lnTo>
                  <a:pt x="81754" y="91440"/>
                </a:lnTo>
                <a:lnTo>
                  <a:pt x="0" y="182880"/>
                </a:lnTo>
                <a:lnTo>
                  <a:pt x="101126" y="182880"/>
                </a:lnTo>
                <a:close/>
              </a:path>
            </a:pathLst>
          </a:custGeom>
          <a:solidFill>
            <a:srgbClr val="FF882A">
              <a:alpha val="80000"/>
            </a:srgbClr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" name="Shape 4"/>
          <p:cNvSpPr/>
          <p:nvPr/>
        </p:nvSpPr>
        <p:spPr>
          <a:xfrm rot="10800000">
            <a:off x="8536838" y="274320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182880" y="91440"/>
                </a:moveTo>
                <a:lnTo>
                  <a:pt x="101126" y="0"/>
                </a:lnTo>
                <a:lnTo>
                  <a:pt x="0" y="0"/>
                </a:lnTo>
                <a:lnTo>
                  <a:pt x="81754" y="91440"/>
                </a:lnTo>
                <a:lnTo>
                  <a:pt x="0" y="182880"/>
                </a:lnTo>
                <a:lnTo>
                  <a:pt x="101126" y="182880"/>
                </a:lnTo>
                <a:close/>
              </a:path>
            </a:pathLst>
          </a:custGeom>
          <a:solidFill>
            <a:srgbClr val="FF882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7" name="Shape 5"/>
          <p:cNvSpPr/>
          <p:nvPr/>
        </p:nvSpPr>
        <p:spPr>
          <a:xfrm>
            <a:off x="1490332" y="1256049"/>
            <a:ext cx="3383280" cy="1280160"/>
          </a:xfrm>
          <a:custGeom>
            <a:avLst/>
            <a:gdLst/>
            <a:ahLst/>
            <a:cxnLst/>
            <a:rect l="l" t="t" r="r" b="b"/>
            <a:pathLst>
              <a:path w="3383280" h="1280160">
                <a:moveTo>
                  <a:pt x="160020" y="0"/>
                </a:moveTo>
                <a:lnTo>
                  <a:pt x="3223260" y="0"/>
                </a:lnTo>
                <a:quadBezTo>
                  <a:pt x="3383280" y="0"/>
                  <a:pt x="3383280" y="160020"/>
                </a:quadBezTo>
                <a:lnTo>
                  <a:pt x="3383280" y="1120140"/>
                </a:lnTo>
                <a:quadBezTo>
                  <a:pt x="3383280" y="1280160"/>
                  <a:pt x="3223260" y="1280160"/>
                </a:quadBezTo>
                <a:lnTo>
                  <a:pt x="160020" y="1280160"/>
                </a:lnTo>
                <a:quadBezTo>
                  <a:pt x="0" y="1280160"/>
                  <a:pt x="0" y="1120140"/>
                </a:quadBezTo>
                <a:lnTo>
                  <a:pt x="0" y="160020"/>
                </a:lnTo>
                <a:quadBezTo>
                  <a:pt x="0" y="0"/>
                  <a:pt x="160020" y="0"/>
                </a:quad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8" name="Shape 6"/>
          <p:cNvSpPr/>
          <p:nvPr/>
        </p:nvSpPr>
        <p:spPr>
          <a:xfrm>
            <a:off x="868540" y="1260669"/>
            <a:ext cx="1243584" cy="1243584"/>
          </a:xfrm>
          <a:custGeom>
            <a:avLst/>
            <a:gdLst/>
            <a:ahLst/>
            <a:cxnLst/>
            <a:rect l="l" t="t" r="r" b="b"/>
            <a:pathLst>
              <a:path w="1243584" h="1243584">
                <a:moveTo>
                  <a:pt x="621792" y="0"/>
                </a:moveTo>
                <a:cubicBezTo>
                  <a:pt x="964968" y="0"/>
                  <a:pt x="1243584" y="278616"/>
                  <a:pt x="1243584" y="621792"/>
                </a:cubicBezTo>
                <a:cubicBezTo>
                  <a:pt x="1243584" y="964968"/>
                  <a:pt x="964968" y="1243584"/>
                  <a:pt x="621792" y="1243584"/>
                </a:cubicBezTo>
                <a:cubicBezTo>
                  <a:pt x="278616" y="1243584"/>
                  <a:pt x="0" y="964968"/>
                  <a:pt x="0" y="621792"/>
                </a:cubicBezTo>
                <a:cubicBezTo>
                  <a:pt x="0" y="278616"/>
                  <a:pt x="278616" y="0"/>
                  <a:pt x="621792" y="0"/>
                </a:cubicBezTo>
                <a:close/>
              </a:path>
            </a:pathLst>
          </a:custGeom>
          <a:solidFill>
            <a:srgbClr val="FF882A"/>
          </a:solidFill>
          <a:ln w="38100">
            <a:solidFill>
              <a:srgbClr val="FFFFFF"/>
            </a:solidFill>
            <a:prstDash val="solid"/>
          </a:ln>
          <a:effectLst>
            <a:outerShdw blurRad="19050" dist="38100" dir="2700000" algn="bl" rotWithShape="0">
              <a:srgbClr val="00215F">
                <a:alpha val="10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23404" y="1288101"/>
            <a:ext cx="1188720" cy="1188720"/>
          </a:xfrm>
          <a:prstGeom prst="ellipse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922209" y="1256386"/>
            <a:ext cx="2560320" cy="3779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14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Mining Services</a:t>
            </a:r>
            <a:endParaRPr lang="en-US" sz="1500" dirty="0">
              <a:solidFill>
                <a:srgbClr val="002060"/>
              </a:solidFill>
            </a:endParaRPr>
          </a:p>
        </p:txBody>
      </p:sp>
      <p:sp>
        <p:nvSpPr>
          <p:cNvPr id="11" name="Text 8"/>
          <p:cNvSpPr/>
          <p:nvPr/>
        </p:nvSpPr>
        <p:spPr>
          <a:xfrm>
            <a:off x="2166988" y="1618860"/>
            <a:ext cx="2560320" cy="734047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1100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Gliss Projects offers a comprehensive suite of mining services including contract mining and material handling for optimal operations.</a:t>
            </a:r>
            <a:endParaRPr lang="en-US" sz="1500" dirty="0">
              <a:solidFill>
                <a:srgbClr val="002060"/>
              </a:solidFill>
            </a:endParaRPr>
          </a:p>
        </p:txBody>
      </p:sp>
      <p:sp>
        <p:nvSpPr>
          <p:cNvPr id="12" name="Shape 9"/>
          <p:cNvSpPr/>
          <p:nvPr/>
        </p:nvSpPr>
        <p:spPr>
          <a:xfrm>
            <a:off x="457877" y="4688417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182880" y="91440"/>
                </a:moveTo>
                <a:lnTo>
                  <a:pt x="101126" y="0"/>
                </a:lnTo>
                <a:lnTo>
                  <a:pt x="0" y="0"/>
                </a:lnTo>
                <a:lnTo>
                  <a:pt x="81754" y="91440"/>
                </a:lnTo>
                <a:lnTo>
                  <a:pt x="0" y="182880"/>
                </a:lnTo>
                <a:lnTo>
                  <a:pt x="101126" y="182880"/>
                </a:lnTo>
                <a:close/>
              </a:path>
            </a:pathLst>
          </a:custGeom>
          <a:solidFill>
            <a:srgbClr val="FF882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3" name="Shape 10"/>
          <p:cNvSpPr/>
          <p:nvPr/>
        </p:nvSpPr>
        <p:spPr>
          <a:xfrm>
            <a:off x="5394960" y="1676337"/>
            <a:ext cx="3291840" cy="1280160"/>
          </a:xfrm>
          <a:custGeom>
            <a:avLst/>
            <a:gdLst/>
            <a:ahLst/>
            <a:cxnLst/>
            <a:rect l="l" t="t" r="r" b="b"/>
            <a:pathLst>
              <a:path w="3291840" h="1280160">
                <a:moveTo>
                  <a:pt x="160020" y="0"/>
                </a:moveTo>
                <a:lnTo>
                  <a:pt x="3131820" y="0"/>
                </a:lnTo>
                <a:quadBezTo>
                  <a:pt x="3291840" y="0"/>
                  <a:pt x="3291840" y="160020"/>
                </a:quadBezTo>
                <a:lnTo>
                  <a:pt x="3291840" y="1120140"/>
                </a:lnTo>
                <a:quadBezTo>
                  <a:pt x="3291840" y="1280160"/>
                  <a:pt x="3131820" y="1280160"/>
                </a:quadBezTo>
                <a:lnTo>
                  <a:pt x="160020" y="1280160"/>
                </a:lnTo>
                <a:quadBezTo>
                  <a:pt x="0" y="1280160"/>
                  <a:pt x="0" y="1120140"/>
                </a:quadBezTo>
                <a:lnTo>
                  <a:pt x="0" y="160020"/>
                </a:lnTo>
                <a:quadBezTo>
                  <a:pt x="0" y="0"/>
                  <a:pt x="160020" y="0"/>
                </a:quad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4" name="Shape 11"/>
          <p:cNvSpPr/>
          <p:nvPr/>
        </p:nvSpPr>
        <p:spPr>
          <a:xfrm>
            <a:off x="4846180" y="1694625"/>
            <a:ext cx="1243584" cy="1243584"/>
          </a:xfrm>
          <a:custGeom>
            <a:avLst/>
            <a:gdLst/>
            <a:ahLst/>
            <a:cxnLst/>
            <a:rect l="l" t="t" r="r" b="b"/>
            <a:pathLst>
              <a:path w="1243584" h="1243584">
                <a:moveTo>
                  <a:pt x="621792" y="0"/>
                </a:moveTo>
                <a:cubicBezTo>
                  <a:pt x="964968" y="0"/>
                  <a:pt x="1243584" y="278616"/>
                  <a:pt x="1243584" y="621792"/>
                </a:cubicBezTo>
                <a:cubicBezTo>
                  <a:pt x="1243584" y="964968"/>
                  <a:pt x="964968" y="1243584"/>
                  <a:pt x="621792" y="1243584"/>
                </a:cubicBezTo>
                <a:cubicBezTo>
                  <a:pt x="278616" y="1243584"/>
                  <a:pt x="0" y="964968"/>
                  <a:pt x="0" y="621792"/>
                </a:cubicBezTo>
                <a:cubicBezTo>
                  <a:pt x="0" y="278616"/>
                  <a:pt x="278616" y="0"/>
                  <a:pt x="621792" y="0"/>
                </a:cubicBezTo>
                <a:close/>
              </a:path>
            </a:pathLst>
          </a:custGeom>
          <a:solidFill>
            <a:srgbClr val="FF882A"/>
          </a:solidFill>
          <a:ln w="38100">
            <a:solidFill>
              <a:srgbClr val="FFFFFF"/>
            </a:solidFill>
            <a:prstDash val="solid"/>
          </a:ln>
          <a:effectLst>
            <a:outerShdw blurRad="19050" dist="38100" dir="2700000" algn="bl" rotWithShape="0">
              <a:srgbClr val="00215F">
                <a:alpha val="10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873612" y="1722057"/>
            <a:ext cx="1188720" cy="1188720"/>
          </a:xfrm>
          <a:prstGeom prst="ellipse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126480" y="1677010"/>
            <a:ext cx="2560320" cy="53707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14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Sustainable Rehabilitation Practices</a:t>
            </a:r>
            <a:endParaRPr lang="en-US" sz="1500" dirty="0">
              <a:solidFill>
                <a:srgbClr val="002060"/>
              </a:solidFill>
            </a:endParaRPr>
          </a:p>
        </p:txBody>
      </p:sp>
      <p:sp>
        <p:nvSpPr>
          <p:cNvPr id="17" name="Text 13"/>
          <p:cNvSpPr/>
          <p:nvPr/>
        </p:nvSpPr>
        <p:spPr>
          <a:xfrm>
            <a:off x="6126480" y="2051914"/>
            <a:ext cx="2560320" cy="734047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1100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Emphasis on rehabilitation services ensures environmental responsibility while enhancing resource recovery in mining operations.</a:t>
            </a:r>
            <a:endParaRPr lang="en-US" sz="1500" dirty="0">
              <a:solidFill>
                <a:srgbClr val="002060"/>
              </a:solidFill>
            </a:endParaRPr>
          </a:p>
        </p:txBody>
      </p:sp>
      <p:sp>
        <p:nvSpPr>
          <p:cNvPr id="18" name="Shape 14"/>
          <p:cNvSpPr/>
          <p:nvPr/>
        </p:nvSpPr>
        <p:spPr>
          <a:xfrm>
            <a:off x="862279" y="2942539"/>
            <a:ext cx="3383280" cy="1280160"/>
          </a:xfrm>
          <a:custGeom>
            <a:avLst/>
            <a:gdLst/>
            <a:ahLst/>
            <a:cxnLst/>
            <a:rect l="l" t="t" r="r" b="b"/>
            <a:pathLst>
              <a:path w="3383280" h="1280160">
                <a:moveTo>
                  <a:pt x="160020" y="0"/>
                </a:moveTo>
                <a:lnTo>
                  <a:pt x="3223260" y="0"/>
                </a:lnTo>
                <a:quadBezTo>
                  <a:pt x="3383280" y="0"/>
                  <a:pt x="3383280" y="160020"/>
                </a:quadBezTo>
                <a:lnTo>
                  <a:pt x="3383280" y="1120140"/>
                </a:lnTo>
                <a:quadBezTo>
                  <a:pt x="3383280" y="1280160"/>
                  <a:pt x="3223260" y="1280160"/>
                </a:quadBezTo>
                <a:lnTo>
                  <a:pt x="160020" y="1280160"/>
                </a:lnTo>
                <a:quadBezTo>
                  <a:pt x="0" y="1280160"/>
                  <a:pt x="0" y="1120140"/>
                </a:quadBezTo>
                <a:lnTo>
                  <a:pt x="0" y="160020"/>
                </a:lnTo>
                <a:quadBezTo>
                  <a:pt x="0" y="0"/>
                  <a:pt x="160020" y="0"/>
                </a:quad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9" name="Shape 15"/>
          <p:cNvSpPr/>
          <p:nvPr/>
        </p:nvSpPr>
        <p:spPr>
          <a:xfrm>
            <a:off x="3419103" y="2942539"/>
            <a:ext cx="1243584" cy="1243584"/>
          </a:xfrm>
          <a:custGeom>
            <a:avLst/>
            <a:gdLst/>
            <a:ahLst/>
            <a:cxnLst/>
            <a:rect l="l" t="t" r="r" b="b"/>
            <a:pathLst>
              <a:path w="1243584" h="1243584">
                <a:moveTo>
                  <a:pt x="621792" y="0"/>
                </a:moveTo>
                <a:cubicBezTo>
                  <a:pt x="964968" y="0"/>
                  <a:pt x="1243584" y="278616"/>
                  <a:pt x="1243584" y="621792"/>
                </a:cubicBezTo>
                <a:cubicBezTo>
                  <a:pt x="1243584" y="964968"/>
                  <a:pt x="964968" y="1243584"/>
                  <a:pt x="621792" y="1243584"/>
                </a:cubicBezTo>
                <a:cubicBezTo>
                  <a:pt x="278616" y="1243584"/>
                  <a:pt x="0" y="964968"/>
                  <a:pt x="0" y="621792"/>
                </a:cubicBezTo>
                <a:cubicBezTo>
                  <a:pt x="0" y="278616"/>
                  <a:pt x="278616" y="0"/>
                  <a:pt x="621792" y="0"/>
                </a:cubicBezTo>
                <a:close/>
              </a:path>
            </a:pathLst>
          </a:custGeom>
          <a:solidFill>
            <a:srgbClr val="FF882A"/>
          </a:solidFill>
          <a:ln w="38100">
            <a:solidFill>
              <a:srgbClr val="FFFFFF"/>
            </a:solidFill>
            <a:prstDash val="solid"/>
          </a:ln>
          <a:effectLst>
            <a:outerShdw blurRad="19050" dist="38100" dir="2700000" algn="bl" rotWithShape="0">
              <a:srgbClr val="808080">
                <a:alpha val="10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441802" y="2981073"/>
            <a:ext cx="1188720" cy="1188720"/>
          </a:xfrm>
          <a:prstGeom prst="ellipse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57511" y="2927061"/>
            <a:ext cx="2560320" cy="53707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14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Efficient Materials Handling Solutions</a:t>
            </a:r>
            <a:endParaRPr lang="en-US" sz="1500" dirty="0">
              <a:solidFill>
                <a:srgbClr val="002060"/>
              </a:solidFill>
            </a:endParaRPr>
          </a:p>
        </p:txBody>
      </p:sp>
      <p:sp>
        <p:nvSpPr>
          <p:cNvPr id="22" name="Text 17"/>
          <p:cNvSpPr/>
          <p:nvPr/>
        </p:nvSpPr>
        <p:spPr>
          <a:xfrm>
            <a:off x="757511" y="3317489"/>
            <a:ext cx="2560320" cy="734047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1100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Expertise in materials handling maximizes productivity and minimizes waste during mining and construction projects.</a:t>
            </a:r>
            <a:endParaRPr lang="en-US" sz="1500" dirty="0">
              <a:solidFill>
                <a:srgbClr val="002060"/>
              </a:solidFill>
            </a:endParaRPr>
          </a:p>
        </p:txBody>
      </p:sp>
      <p:sp>
        <p:nvSpPr>
          <p:cNvPr id="23" name="Shape 18"/>
          <p:cNvSpPr/>
          <p:nvPr/>
        </p:nvSpPr>
        <p:spPr>
          <a:xfrm>
            <a:off x="5243170" y="3320885"/>
            <a:ext cx="3383280" cy="1280160"/>
          </a:xfrm>
          <a:custGeom>
            <a:avLst/>
            <a:gdLst/>
            <a:ahLst/>
            <a:cxnLst/>
            <a:rect l="l" t="t" r="r" b="b"/>
            <a:pathLst>
              <a:path w="3383280" h="1280160">
                <a:moveTo>
                  <a:pt x="160020" y="0"/>
                </a:moveTo>
                <a:lnTo>
                  <a:pt x="3223260" y="0"/>
                </a:lnTo>
                <a:quadBezTo>
                  <a:pt x="3383280" y="0"/>
                  <a:pt x="3383280" y="160020"/>
                </a:quadBezTo>
                <a:lnTo>
                  <a:pt x="3383280" y="1120140"/>
                </a:lnTo>
                <a:quadBezTo>
                  <a:pt x="3383280" y="1280160"/>
                  <a:pt x="3223260" y="1280160"/>
                </a:quadBezTo>
                <a:lnTo>
                  <a:pt x="160020" y="1280160"/>
                </a:lnTo>
                <a:quadBezTo>
                  <a:pt x="0" y="1280160"/>
                  <a:pt x="0" y="1120140"/>
                </a:quadBezTo>
                <a:lnTo>
                  <a:pt x="0" y="160020"/>
                </a:lnTo>
                <a:quadBezTo>
                  <a:pt x="0" y="0"/>
                  <a:pt x="160020" y="0"/>
                </a:quad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4" name="Shape 19"/>
          <p:cNvSpPr/>
          <p:nvPr/>
        </p:nvSpPr>
        <p:spPr>
          <a:xfrm>
            <a:off x="7754112" y="3317489"/>
            <a:ext cx="1243584" cy="1243584"/>
          </a:xfrm>
          <a:custGeom>
            <a:avLst/>
            <a:gdLst/>
            <a:ahLst/>
            <a:cxnLst/>
            <a:rect l="l" t="t" r="r" b="b"/>
            <a:pathLst>
              <a:path w="1243584" h="1243584">
                <a:moveTo>
                  <a:pt x="621792" y="0"/>
                </a:moveTo>
                <a:cubicBezTo>
                  <a:pt x="964968" y="0"/>
                  <a:pt x="1243584" y="278616"/>
                  <a:pt x="1243584" y="621792"/>
                </a:cubicBezTo>
                <a:cubicBezTo>
                  <a:pt x="1243584" y="964968"/>
                  <a:pt x="964968" y="1243584"/>
                  <a:pt x="621792" y="1243584"/>
                </a:cubicBezTo>
                <a:cubicBezTo>
                  <a:pt x="278616" y="1243584"/>
                  <a:pt x="0" y="964968"/>
                  <a:pt x="0" y="621792"/>
                </a:cubicBezTo>
                <a:cubicBezTo>
                  <a:pt x="0" y="278616"/>
                  <a:pt x="278616" y="0"/>
                  <a:pt x="621792" y="0"/>
                </a:cubicBezTo>
                <a:close/>
              </a:path>
            </a:pathLst>
          </a:custGeom>
          <a:solidFill>
            <a:srgbClr val="FF882A"/>
          </a:solidFill>
          <a:ln w="38100">
            <a:solidFill>
              <a:srgbClr val="FFFFFF"/>
            </a:solidFill>
            <a:prstDash val="solid"/>
          </a:ln>
          <a:effectLst>
            <a:outerShdw blurRad="19050" dist="38100" dir="2700000" algn="bl" rotWithShape="0">
              <a:srgbClr val="808080">
                <a:alpha val="10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789613" y="3366605"/>
            <a:ext cx="1188720" cy="1188720"/>
          </a:xfrm>
          <a:prstGeom prst="ellipse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243170" y="3372540"/>
            <a:ext cx="2560320" cy="53707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14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Partnerships for Growth</a:t>
            </a:r>
            <a:endParaRPr lang="en-US" sz="1500" dirty="0">
              <a:solidFill>
                <a:srgbClr val="002060"/>
              </a:solidFill>
            </a:endParaRPr>
          </a:p>
        </p:txBody>
      </p:sp>
      <p:sp>
        <p:nvSpPr>
          <p:cNvPr id="27" name="Text 21"/>
          <p:cNvSpPr/>
          <p:nvPr/>
        </p:nvSpPr>
        <p:spPr>
          <a:xfrm>
            <a:off x="5243170" y="3765209"/>
            <a:ext cx="2560320" cy="734047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1100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Collaborative efforts through strategic partnerships enhance service offerings and expand operational capabilities in mining.</a:t>
            </a:r>
            <a:endParaRPr lang="en-US" sz="15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125906" y="1118318"/>
            <a:ext cx="3840480" cy="765081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2100" b="1" dirty="0">
                <a:latin typeface="Arial" pitchFamily="34" charset="0"/>
                <a:cs typeface="Arial" pitchFamily="34" charset="-120"/>
              </a:rPr>
              <a:t>Gliss Projects Pty Ltd </a:t>
            </a:r>
          </a:p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2100" b="1" dirty="0">
                <a:latin typeface="Arial" pitchFamily="34" charset="0"/>
                <a:cs typeface="Arial" pitchFamily="34" charset="-120"/>
              </a:rPr>
              <a:t>Accreditations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32918" y="2296130"/>
            <a:ext cx="9078373" cy="0"/>
          </a:xfrm>
          <a:custGeom>
            <a:avLst/>
            <a:gdLst/>
            <a:ahLst/>
            <a:cxnLst/>
            <a:rect l="l" t="t" r="r" b="b"/>
            <a:pathLst>
              <a:path w="9078373">
                <a:moveTo>
                  <a:pt x="0" y="0"/>
                </a:moveTo>
                <a:lnTo>
                  <a:pt x="9078373" y="0"/>
                </a:lnTo>
              </a:path>
            </a:pathLst>
          </a:custGeom>
          <a:noFill/>
          <a:ln w="19050">
            <a:solidFill>
              <a:srgbClr val="FF882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ZA"/>
          </a:p>
        </p:txBody>
      </p:sp>
      <p:sp>
        <p:nvSpPr>
          <p:cNvPr id="6" name="Shape 3"/>
          <p:cNvSpPr/>
          <p:nvPr/>
        </p:nvSpPr>
        <p:spPr>
          <a:xfrm rot="2700000">
            <a:off x="1325880" y="2204690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22860" y="0"/>
                </a:moveTo>
                <a:lnTo>
                  <a:pt x="160020" y="0"/>
                </a:lnTo>
                <a:quadBezTo>
                  <a:pt x="182880" y="0"/>
                  <a:pt x="182880" y="22860"/>
                </a:quadBezTo>
                <a:lnTo>
                  <a:pt x="182880" y="160020"/>
                </a:lnTo>
                <a:quadBezTo>
                  <a:pt x="182880" y="182880"/>
                  <a:pt x="160020" y="182880"/>
                </a:quadBezTo>
                <a:lnTo>
                  <a:pt x="22860" y="182880"/>
                </a:lnTo>
                <a:quadBezTo>
                  <a:pt x="0" y="182880"/>
                  <a:pt x="0" y="160020"/>
                </a:quadBezTo>
                <a:lnTo>
                  <a:pt x="0" y="22860"/>
                </a:lnTo>
                <a:quadBezTo>
                  <a:pt x="0" y="0"/>
                  <a:pt x="22860" y="0"/>
                </a:quadBezTo>
                <a:close/>
              </a:path>
            </a:pathLst>
          </a:custGeom>
          <a:solidFill>
            <a:srgbClr val="FF882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7" name="Shape 4"/>
          <p:cNvSpPr/>
          <p:nvPr/>
        </p:nvSpPr>
        <p:spPr>
          <a:xfrm rot="10800000">
            <a:off x="8381390" y="274320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182880" y="91440"/>
                </a:moveTo>
                <a:lnTo>
                  <a:pt x="101126" y="0"/>
                </a:lnTo>
                <a:lnTo>
                  <a:pt x="0" y="0"/>
                </a:lnTo>
                <a:lnTo>
                  <a:pt x="81754" y="91440"/>
                </a:lnTo>
                <a:lnTo>
                  <a:pt x="0" y="182880"/>
                </a:lnTo>
                <a:lnTo>
                  <a:pt x="101126" y="182880"/>
                </a:lnTo>
                <a:close/>
              </a:path>
            </a:pathLst>
          </a:custGeom>
          <a:solidFill>
            <a:srgbClr val="FF882A">
              <a:alpha val="80000"/>
            </a:srgbClr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8" name="Shape 5"/>
          <p:cNvSpPr/>
          <p:nvPr/>
        </p:nvSpPr>
        <p:spPr>
          <a:xfrm rot="10800000">
            <a:off x="8536838" y="274320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182880" y="91440"/>
                </a:moveTo>
                <a:lnTo>
                  <a:pt x="101126" y="0"/>
                </a:lnTo>
                <a:lnTo>
                  <a:pt x="0" y="0"/>
                </a:lnTo>
                <a:lnTo>
                  <a:pt x="81754" y="91440"/>
                </a:lnTo>
                <a:lnTo>
                  <a:pt x="0" y="182880"/>
                </a:lnTo>
                <a:lnTo>
                  <a:pt x="101126" y="182880"/>
                </a:lnTo>
                <a:close/>
              </a:path>
            </a:pathLst>
          </a:custGeom>
          <a:solidFill>
            <a:srgbClr val="FF882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9" name="Text 6"/>
          <p:cNvSpPr/>
          <p:nvPr/>
        </p:nvSpPr>
        <p:spPr>
          <a:xfrm>
            <a:off x="457200" y="2485736"/>
            <a:ext cx="1920240" cy="709425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GB" sz="1400" b="1" dirty="0">
                <a:solidFill>
                  <a:srgbClr val="1E32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Construction Industry Development Board </a:t>
            </a:r>
          </a:p>
        </p:txBody>
      </p:sp>
      <p:sp>
        <p:nvSpPr>
          <p:cNvPr id="10" name="Text 7"/>
          <p:cNvSpPr/>
          <p:nvPr/>
        </p:nvSpPr>
        <p:spPr>
          <a:xfrm>
            <a:off x="457200" y="3197038"/>
            <a:ext cx="1920240" cy="51680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CIDB LEVEL 5 CE PE</a:t>
            </a:r>
          </a:p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CIDB LEVEL 4 GB PE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 rot="2700000">
            <a:off x="3429000" y="2204690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22860" y="0"/>
                </a:moveTo>
                <a:lnTo>
                  <a:pt x="160020" y="0"/>
                </a:lnTo>
                <a:quadBezTo>
                  <a:pt x="182880" y="0"/>
                  <a:pt x="182880" y="22860"/>
                </a:quadBezTo>
                <a:lnTo>
                  <a:pt x="182880" y="160020"/>
                </a:lnTo>
                <a:quadBezTo>
                  <a:pt x="182880" y="182880"/>
                  <a:pt x="160020" y="182880"/>
                </a:quadBezTo>
                <a:lnTo>
                  <a:pt x="22860" y="182880"/>
                </a:lnTo>
                <a:quadBezTo>
                  <a:pt x="0" y="182880"/>
                  <a:pt x="0" y="160020"/>
                </a:quadBezTo>
                <a:lnTo>
                  <a:pt x="0" y="22860"/>
                </a:lnTo>
                <a:quadBezTo>
                  <a:pt x="0" y="0"/>
                  <a:pt x="22860" y="0"/>
                </a:quadBezTo>
                <a:close/>
              </a:path>
            </a:pathLst>
          </a:custGeom>
          <a:solidFill>
            <a:srgbClr val="FF882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2" name="Text 9"/>
          <p:cNvSpPr/>
          <p:nvPr/>
        </p:nvSpPr>
        <p:spPr>
          <a:xfrm>
            <a:off x="2560320" y="2485339"/>
            <a:ext cx="1920240" cy="712311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GB" sz="1400" b="1" dirty="0">
                <a:solidFill>
                  <a:srgbClr val="1E32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Private Security Industry Regulatory Authority (</a:t>
            </a:r>
            <a:r>
              <a:rPr lang="en-GB" sz="1400" b="1" dirty="0" err="1">
                <a:solidFill>
                  <a:srgbClr val="1E32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PSiRA</a:t>
            </a:r>
            <a:r>
              <a:rPr lang="en-GB" sz="1400" b="1" dirty="0">
                <a:solidFill>
                  <a:srgbClr val="1E32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2560320" y="3214889"/>
            <a:ext cx="1920240" cy="381643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1500" dirty="0"/>
              <a:t>PSIRA GRADED</a:t>
            </a:r>
          </a:p>
        </p:txBody>
      </p:sp>
      <p:sp>
        <p:nvSpPr>
          <p:cNvPr id="14" name="Shape 11"/>
          <p:cNvSpPr/>
          <p:nvPr/>
        </p:nvSpPr>
        <p:spPr>
          <a:xfrm rot="2700000">
            <a:off x="5532120" y="2204690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22860" y="0"/>
                </a:moveTo>
                <a:lnTo>
                  <a:pt x="160020" y="0"/>
                </a:lnTo>
                <a:quadBezTo>
                  <a:pt x="182880" y="0"/>
                  <a:pt x="182880" y="22860"/>
                </a:quadBezTo>
                <a:lnTo>
                  <a:pt x="182880" y="160020"/>
                </a:lnTo>
                <a:quadBezTo>
                  <a:pt x="182880" y="182880"/>
                  <a:pt x="160020" y="182880"/>
                </a:quadBezTo>
                <a:lnTo>
                  <a:pt x="22860" y="182880"/>
                </a:lnTo>
                <a:quadBezTo>
                  <a:pt x="0" y="182880"/>
                  <a:pt x="0" y="160020"/>
                </a:quadBezTo>
                <a:lnTo>
                  <a:pt x="0" y="22860"/>
                </a:lnTo>
                <a:quadBezTo>
                  <a:pt x="0" y="0"/>
                  <a:pt x="22860" y="0"/>
                </a:quadBezTo>
                <a:close/>
              </a:path>
            </a:pathLst>
          </a:custGeom>
          <a:solidFill>
            <a:srgbClr val="FF882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5" name="Text 12"/>
          <p:cNvSpPr/>
          <p:nvPr/>
        </p:nvSpPr>
        <p:spPr>
          <a:xfrm>
            <a:off x="4663440" y="2615141"/>
            <a:ext cx="1920240" cy="367601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1400" b="1" dirty="0">
                <a:solidFill>
                  <a:srgbClr val="1E32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 9001:2015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663440" y="3043123"/>
            <a:ext cx="1920240" cy="51680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QUALITY MANAGEMENT</a:t>
            </a:r>
          </a:p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cs typeface="Arial" pitchFamily="34" charset="-120"/>
              </a:rPr>
              <a:t>SYSTEMS (In-progress)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 rot="2700000">
            <a:off x="7635240" y="2204690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22860" y="0"/>
                </a:moveTo>
                <a:lnTo>
                  <a:pt x="160020" y="0"/>
                </a:lnTo>
                <a:quadBezTo>
                  <a:pt x="182880" y="0"/>
                  <a:pt x="182880" y="22860"/>
                </a:quadBezTo>
                <a:lnTo>
                  <a:pt x="182880" y="160020"/>
                </a:lnTo>
                <a:quadBezTo>
                  <a:pt x="182880" y="182880"/>
                  <a:pt x="160020" y="182880"/>
                </a:quadBezTo>
                <a:lnTo>
                  <a:pt x="22860" y="182880"/>
                </a:lnTo>
                <a:quadBezTo>
                  <a:pt x="0" y="182880"/>
                  <a:pt x="0" y="160020"/>
                </a:quadBezTo>
                <a:lnTo>
                  <a:pt x="0" y="22860"/>
                </a:lnTo>
                <a:quadBezTo>
                  <a:pt x="0" y="0"/>
                  <a:pt x="22860" y="0"/>
                </a:quadBezTo>
                <a:close/>
              </a:path>
            </a:pathLst>
          </a:custGeom>
          <a:solidFill>
            <a:srgbClr val="FF882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8" name="Text 15"/>
          <p:cNvSpPr/>
          <p:nvPr/>
        </p:nvSpPr>
        <p:spPr>
          <a:xfrm>
            <a:off x="6766560" y="2362536"/>
            <a:ext cx="1920240" cy="76809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1400" b="1" dirty="0">
                <a:solidFill>
                  <a:srgbClr val="1E32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Responsibility and BEE Contributions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6766560" y="2948510"/>
            <a:ext cx="1920240" cy="9144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a level 1 BEE contributor, Gliss Projects is committed to uplifting local communities and promoting social equity.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3"/>
          <p:cNvSpPr/>
          <p:nvPr/>
        </p:nvSpPr>
        <p:spPr>
          <a:xfrm rot="10800000">
            <a:off x="8381390" y="274320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182880" y="91440"/>
                </a:moveTo>
                <a:lnTo>
                  <a:pt x="101126" y="0"/>
                </a:lnTo>
                <a:lnTo>
                  <a:pt x="0" y="0"/>
                </a:lnTo>
                <a:lnTo>
                  <a:pt x="81754" y="91440"/>
                </a:lnTo>
                <a:lnTo>
                  <a:pt x="0" y="182880"/>
                </a:lnTo>
                <a:lnTo>
                  <a:pt x="101126" y="182880"/>
                </a:lnTo>
                <a:close/>
              </a:path>
            </a:pathLst>
          </a:custGeom>
          <a:solidFill>
            <a:srgbClr val="FF882A">
              <a:alpha val="80000"/>
            </a:srgbClr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" name="Shape 4"/>
          <p:cNvSpPr/>
          <p:nvPr/>
        </p:nvSpPr>
        <p:spPr>
          <a:xfrm rot="10800000">
            <a:off x="8536838" y="274320"/>
            <a:ext cx="182880" cy="182880"/>
          </a:xfrm>
          <a:custGeom>
            <a:avLst/>
            <a:gdLst/>
            <a:ahLst/>
            <a:cxnLst/>
            <a:rect l="l" t="t" r="r" b="b"/>
            <a:pathLst>
              <a:path w="182880" h="182880">
                <a:moveTo>
                  <a:pt x="182880" y="91440"/>
                </a:moveTo>
                <a:lnTo>
                  <a:pt x="101126" y="0"/>
                </a:lnTo>
                <a:lnTo>
                  <a:pt x="0" y="0"/>
                </a:lnTo>
                <a:lnTo>
                  <a:pt x="81754" y="91440"/>
                </a:lnTo>
                <a:lnTo>
                  <a:pt x="0" y="182880"/>
                </a:lnTo>
                <a:lnTo>
                  <a:pt x="101126" y="182880"/>
                </a:lnTo>
                <a:close/>
              </a:path>
            </a:pathLst>
          </a:custGeom>
          <a:solidFill>
            <a:srgbClr val="FF882A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7" name="Shape 5"/>
          <p:cNvSpPr/>
          <p:nvPr/>
        </p:nvSpPr>
        <p:spPr>
          <a:xfrm>
            <a:off x="302134" y="962581"/>
            <a:ext cx="3518776" cy="1280160"/>
          </a:xfrm>
          <a:custGeom>
            <a:avLst/>
            <a:gdLst/>
            <a:ahLst/>
            <a:cxnLst/>
            <a:rect l="l" t="t" r="r" b="b"/>
            <a:pathLst>
              <a:path w="3383280" h="1280160">
                <a:moveTo>
                  <a:pt x="160020" y="0"/>
                </a:moveTo>
                <a:lnTo>
                  <a:pt x="3223260" y="0"/>
                </a:lnTo>
                <a:quadBezTo>
                  <a:pt x="3383280" y="0"/>
                  <a:pt x="3383280" y="160020"/>
                </a:quadBezTo>
                <a:lnTo>
                  <a:pt x="3383280" y="1120140"/>
                </a:lnTo>
                <a:quadBezTo>
                  <a:pt x="3383280" y="1280160"/>
                  <a:pt x="3223260" y="1280160"/>
                </a:quadBezTo>
                <a:lnTo>
                  <a:pt x="160020" y="1280160"/>
                </a:lnTo>
                <a:quadBezTo>
                  <a:pt x="0" y="1280160"/>
                  <a:pt x="0" y="1120140"/>
                </a:quadBezTo>
                <a:lnTo>
                  <a:pt x="0" y="160020"/>
                </a:lnTo>
                <a:quadBezTo>
                  <a:pt x="0" y="0"/>
                  <a:pt x="160020" y="0"/>
                </a:quad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en-ZA">
              <a:solidFill>
                <a:srgbClr val="002060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-7175" y="988881"/>
            <a:ext cx="1243584" cy="1243584"/>
          </a:xfrm>
          <a:custGeom>
            <a:avLst/>
            <a:gdLst/>
            <a:ahLst/>
            <a:cxnLst/>
            <a:rect l="l" t="t" r="r" b="b"/>
            <a:pathLst>
              <a:path w="1243584" h="1243584">
                <a:moveTo>
                  <a:pt x="621792" y="0"/>
                </a:moveTo>
                <a:cubicBezTo>
                  <a:pt x="964968" y="0"/>
                  <a:pt x="1243584" y="278616"/>
                  <a:pt x="1243584" y="621792"/>
                </a:cubicBezTo>
                <a:cubicBezTo>
                  <a:pt x="1243584" y="964968"/>
                  <a:pt x="964968" y="1243584"/>
                  <a:pt x="621792" y="1243584"/>
                </a:cubicBezTo>
                <a:cubicBezTo>
                  <a:pt x="278616" y="1243584"/>
                  <a:pt x="0" y="964968"/>
                  <a:pt x="0" y="621792"/>
                </a:cubicBezTo>
                <a:cubicBezTo>
                  <a:pt x="0" y="278616"/>
                  <a:pt x="278616" y="0"/>
                  <a:pt x="621792" y="0"/>
                </a:cubicBezTo>
                <a:close/>
              </a:path>
            </a:pathLst>
          </a:custGeom>
          <a:solidFill>
            <a:srgbClr val="FF882A"/>
          </a:solidFill>
          <a:ln w="38100">
            <a:solidFill>
              <a:srgbClr val="FFFFFF"/>
            </a:solidFill>
            <a:prstDash val="solid"/>
          </a:ln>
          <a:effectLst>
            <a:outerShdw blurRad="19050" dist="38100" dir="2700000" algn="bl" rotWithShape="0">
              <a:srgbClr val="00215F">
                <a:alpha val="100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397" y="1010025"/>
            <a:ext cx="1188720" cy="1188720"/>
          </a:xfrm>
          <a:prstGeom prst="ellipse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74836" y="1027157"/>
            <a:ext cx="2560320" cy="53707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14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Samancor Chrome Recovery</a:t>
            </a:r>
            <a:endParaRPr lang="en-US" sz="1500" dirty="0">
              <a:solidFill>
                <a:srgbClr val="002060"/>
              </a:solidFill>
            </a:endParaRPr>
          </a:p>
        </p:txBody>
      </p:sp>
      <p:sp>
        <p:nvSpPr>
          <p:cNvPr id="11" name="Text 8"/>
          <p:cNvSpPr/>
          <p:nvPr/>
        </p:nvSpPr>
        <p:spPr>
          <a:xfrm>
            <a:off x="1260590" y="1368832"/>
            <a:ext cx="2560320" cy="972061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1100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of chrome recovery and cold slag processing operations that enhance resource recovery efficiency.</a:t>
            </a:r>
          </a:p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1100" b="1" dirty="0">
                <a:solidFill>
                  <a:srgbClr val="002060"/>
                </a:solidFill>
                <a:latin typeface="Arial" pitchFamily="34" charset="0"/>
                <a:cs typeface="Arial" pitchFamily="34" charset="-120"/>
              </a:rPr>
              <a:t>Date: 2022-Current</a:t>
            </a:r>
          </a:p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1100" b="1" dirty="0">
                <a:solidFill>
                  <a:srgbClr val="002060"/>
                </a:solidFill>
                <a:latin typeface="Arial" pitchFamily="34" charset="0"/>
                <a:cs typeface="Arial" pitchFamily="34" charset="-120"/>
              </a:rPr>
              <a:t>Value: R 66 823,200.00</a:t>
            </a:r>
            <a:endParaRPr lang="en-US" sz="1500" b="1" dirty="0">
              <a:solidFill>
                <a:srgbClr val="002060"/>
              </a:solidFill>
            </a:endParaRPr>
          </a:p>
        </p:txBody>
      </p:sp>
      <p:sp>
        <p:nvSpPr>
          <p:cNvPr id="13" name="Shape 10"/>
          <p:cNvSpPr/>
          <p:nvPr/>
        </p:nvSpPr>
        <p:spPr>
          <a:xfrm>
            <a:off x="5427217" y="893029"/>
            <a:ext cx="3601891" cy="1300312"/>
          </a:xfrm>
          <a:custGeom>
            <a:avLst/>
            <a:gdLst/>
            <a:ahLst/>
            <a:cxnLst/>
            <a:rect l="l" t="t" r="r" b="b"/>
            <a:pathLst>
              <a:path w="3291840" h="1280160">
                <a:moveTo>
                  <a:pt x="160020" y="0"/>
                </a:moveTo>
                <a:lnTo>
                  <a:pt x="3131820" y="0"/>
                </a:lnTo>
                <a:quadBezTo>
                  <a:pt x="3291840" y="0"/>
                  <a:pt x="3291840" y="160020"/>
                </a:quadBezTo>
                <a:lnTo>
                  <a:pt x="3291840" y="1120140"/>
                </a:lnTo>
                <a:quadBezTo>
                  <a:pt x="3291840" y="1280160"/>
                  <a:pt x="3131820" y="1280160"/>
                </a:quadBezTo>
                <a:lnTo>
                  <a:pt x="160020" y="1280160"/>
                </a:lnTo>
                <a:quadBezTo>
                  <a:pt x="0" y="1280160"/>
                  <a:pt x="0" y="1120140"/>
                </a:quadBezTo>
                <a:lnTo>
                  <a:pt x="0" y="160020"/>
                </a:lnTo>
                <a:quadBezTo>
                  <a:pt x="0" y="0"/>
                  <a:pt x="160020" y="0"/>
                </a:quad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en-ZA" dirty="0"/>
          </a:p>
        </p:txBody>
      </p:sp>
      <p:sp>
        <p:nvSpPr>
          <p:cNvPr id="14" name="Shape 11"/>
          <p:cNvSpPr/>
          <p:nvPr/>
        </p:nvSpPr>
        <p:spPr>
          <a:xfrm>
            <a:off x="5115016" y="850441"/>
            <a:ext cx="1243584" cy="1243584"/>
          </a:xfrm>
          <a:custGeom>
            <a:avLst/>
            <a:gdLst/>
            <a:ahLst/>
            <a:cxnLst/>
            <a:rect l="l" t="t" r="r" b="b"/>
            <a:pathLst>
              <a:path w="1243584" h="1243584">
                <a:moveTo>
                  <a:pt x="621792" y="0"/>
                </a:moveTo>
                <a:cubicBezTo>
                  <a:pt x="964968" y="0"/>
                  <a:pt x="1243584" y="278616"/>
                  <a:pt x="1243584" y="621792"/>
                </a:cubicBezTo>
                <a:cubicBezTo>
                  <a:pt x="1243584" y="964968"/>
                  <a:pt x="964968" y="1243584"/>
                  <a:pt x="621792" y="1243584"/>
                </a:cubicBezTo>
                <a:cubicBezTo>
                  <a:pt x="278616" y="1243584"/>
                  <a:pt x="0" y="964968"/>
                  <a:pt x="0" y="621792"/>
                </a:cubicBezTo>
                <a:cubicBezTo>
                  <a:pt x="0" y="278616"/>
                  <a:pt x="278616" y="0"/>
                  <a:pt x="621792" y="0"/>
                </a:cubicBezTo>
                <a:close/>
              </a:path>
            </a:pathLst>
          </a:custGeom>
          <a:solidFill>
            <a:schemeClr val="bg1"/>
          </a:solidFill>
          <a:ln w="38100">
            <a:solidFill>
              <a:srgbClr val="FFFFFF"/>
            </a:solidFill>
            <a:prstDash val="solid"/>
          </a:ln>
          <a:effectLst>
            <a:outerShdw blurRad="19050" dist="38100" dir="2700000" algn="bl" rotWithShape="0">
              <a:srgbClr val="00215F">
                <a:alpha val="100000"/>
              </a:srgbClr>
            </a:outerShdw>
          </a:effectLst>
        </p:spPr>
        <p:txBody>
          <a:bodyPr/>
          <a:lstStyle/>
          <a:p>
            <a:endParaRPr lang="en-ZA" dirty="0"/>
          </a:p>
        </p:txBody>
      </p:sp>
      <p:pic>
        <p:nvPicPr>
          <p:cNvPr id="15" name="Image 1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169880" y="880536"/>
            <a:ext cx="1188720" cy="1188720"/>
          </a:xfrm>
          <a:prstGeom prst="ellipse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305287" y="912834"/>
            <a:ext cx="2560320" cy="53707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14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Sandton Plant Hire Collaboration</a:t>
            </a:r>
            <a:endParaRPr lang="en-US" sz="1500" dirty="0">
              <a:solidFill>
                <a:srgbClr val="002060"/>
              </a:solidFill>
            </a:endParaRPr>
          </a:p>
        </p:txBody>
      </p:sp>
      <p:sp>
        <p:nvSpPr>
          <p:cNvPr id="17" name="Text 13"/>
          <p:cNvSpPr/>
          <p:nvPr/>
        </p:nvSpPr>
        <p:spPr>
          <a:xfrm>
            <a:off x="6385256" y="1311378"/>
            <a:ext cx="2830103" cy="869469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1100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Partnership with Sandton Plant Hire for optimized Underground and Opencast services to improve project outputs , Has Availed Equipment to the value </a:t>
            </a:r>
            <a:r>
              <a:rPr lang="en-US" sz="11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R370 000 000 to Gliss Projects Pty Ltd</a:t>
            </a:r>
            <a:endParaRPr lang="en-US" sz="1500" b="1" dirty="0">
              <a:solidFill>
                <a:srgbClr val="002060"/>
              </a:solidFill>
            </a:endParaRPr>
          </a:p>
        </p:txBody>
      </p:sp>
      <p:sp>
        <p:nvSpPr>
          <p:cNvPr id="18" name="Shape 14"/>
          <p:cNvSpPr/>
          <p:nvPr/>
        </p:nvSpPr>
        <p:spPr>
          <a:xfrm>
            <a:off x="179236" y="2346833"/>
            <a:ext cx="3665139" cy="1280160"/>
          </a:xfrm>
          <a:custGeom>
            <a:avLst/>
            <a:gdLst/>
            <a:ahLst/>
            <a:cxnLst/>
            <a:rect l="l" t="t" r="r" b="b"/>
            <a:pathLst>
              <a:path w="3383280" h="1280160">
                <a:moveTo>
                  <a:pt x="160020" y="0"/>
                </a:moveTo>
                <a:lnTo>
                  <a:pt x="3223260" y="0"/>
                </a:lnTo>
                <a:quadBezTo>
                  <a:pt x="3383280" y="0"/>
                  <a:pt x="3383280" y="160020"/>
                </a:quadBezTo>
                <a:lnTo>
                  <a:pt x="3383280" y="1120140"/>
                </a:lnTo>
                <a:quadBezTo>
                  <a:pt x="3383280" y="1280160"/>
                  <a:pt x="3223260" y="1280160"/>
                </a:quadBezTo>
                <a:lnTo>
                  <a:pt x="160020" y="1280160"/>
                </a:lnTo>
                <a:quadBezTo>
                  <a:pt x="0" y="1280160"/>
                  <a:pt x="0" y="1120140"/>
                </a:quadBezTo>
                <a:lnTo>
                  <a:pt x="0" y="160020"/>
                </a:lnTo>
                <a:quadBezTo>
                  <a:pt x="0" y="0"/>
                  <a:pt x="160020" y="0"/>
                </a:quad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9" name="Shape 15"/>
          <p:cNvSpPr/>
          <p:nvPr/>
        </p:nvSpPr>
        <p:spPr>
          <a:xfrm>
            <a:off x="18965" y="2346833"/>
            <a:ext cx="1243584" cy="1243584"/>
          </a:xfrm>
          <a:custGeom>
            <a:avLst/>
            <a:gdLst/>
            <a:ahLst/>
            <a:cxnLst/>
            <a:rect l="l" t="t" r="r" b="b"/>
            <a:pathLst>
              <a:path w="1243584" h="1243584">
                <a:moveTo>
                  <a:pt x="621792" y="0"/>
                </a:moveTo>
                <a:cubicBezTo>
                  <a:pt x="964968" y="0"/>
                  <a:pt x="1243584" y="278616"/>
                  <a:pt x="1243584" y="621792"/>
                </a:cubicBezTo>
                <a:cubicBezTo>
                  <a:pt x="1243584" y="964968"/>
                  <a:pt x="964968" y="1243584"/>
                  <a:pt x="621792" y="1243584"/>
                </a:cubicBezTo>
                <a:cubicBezTo>
                  <a:pt x="278616" y="1243584"/>
                  <a:pt x="0" y="964968"/>
                  <a:pt x="0" y="621792"/>
                </a:cubicBezTo>
                <a:cubicBezTo>
                  <a:pt x="0" y="278616"/>
                  <a:pt x="278616" y="0"/>
                  <a:pt x="621792" y="0"/>
                </a:cubicBezTo>
                <a:close/>
              </a:path>
            </a:pathLst>
          </a:custGeom>
          <a:solidFill>
            <a:srgbClr val="FF882A"/>
          </a:solidFill>
          <a:ln w="38100">
            <a:solidFill>
              <a:srgbClr val="FFFFFF"/>
            </a:solidFill>
            <a:prstDash val="solid"/>
          </a:ln>
          <a:effectLst>
            <a:outerShdw blurRad="19050" dist="38100" dir="2700000" algn="bl" rotWithShape="0">
              <a:srgbClr val="808080">
                <a:alpha val="100000"/>
              </a:srgbClr>
            </a:outerShdw>
          </a:effectLst>
        </p:spPr>
        <p:txBody>
          <a:bodyPr/>
          <a:lstStyle/>
          <a:p>
            <a:endParaRPr lang="en-ZA" dirty="0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6397" y="2374265"/>
            <a:ext cx="1188720" cy="1188720"/>
          </a:xfrm>
          <a:prstGeom prst="ellipse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249772" y="2371088"/>
            <a:ext cx="2560320" cy="53707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14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Eskom Coal Reclaimer Project</a:t>
            </a:r>
            <a:endParaRPr lang="en-US" sz="1500" dirty="0">
              <a:solidFill>
                <a:srgbClr val="002060"/>
              </a:solidFill>
            </a:endParaRPr>
          </a:p>
        </p:txBody>
      </p:sp>
      <p:sp>
        <p:nvSpPr>
          <p:cNvPr id="22" name="Text 17"/>
          <p:cNvSpPr/>
          <p:nvPr/>
        </p:nvSpPr>
        <p:spPr>
          <a:xfrm>
            <a:off x="1238466" y="2737500"/>
            <a:ext cx="2560320" cy="972061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1100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 in coal reclaimer operations for Eskom SOC that ensures efficient material handling.</a:t>
            </a:r>
          </a:p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1100" b="1" dirty="0">
                <a:solidFill>
                  <a:srgbClr val="002060"/>
                </a:solidFill>
                <a:latin typeface="Arial" pitchFamily="34" charset="0"/>
                <a:cs typeface="Arial" pitchFamily="34" charset="-120"/>
              </a:rPr>
              <a:t>Date: 2020-2023</a:t>
            </a:r>
          </a:p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1100" b="1" dirty="0">
                <a:solidFill>
                  <a:srgbClr val="002060"/>
                </a:solidFill>
                <a:latin typeface="Arial" pitchFamily="34" charset="0"/>
                <a:cs typeface="Arial" pitchFamily="34" charset="-120"/>
              </a:rPr>
              <a:t>Value: R 34 423,200.00</a:t>
            </a:r>
            <a:endParaRPr lang="en-US" sz="1500" b="1" dirty="0">
              <a:solidFill>
                <a:srgbClr val="002060"/>
              </a:solidFill>
            </a:endParaRPr>
          </a:p>
        </p:txBody>
      </p:sp>
      <p:sp>
        <p:nvSpPr>
          <p:cNvPr id="23" name="Shape 18"/>
          <p:cNvSpPr/>
          <p:nvPr/>
        </p:nvSpPr>
        <p:spPr>
          <a:xfrm>
            <a:off x="5664672" y="2266479"/>
            <a:ext cx="3383280" cy="1280160"/>
          </a:xfrm>
          <a:custGeom>
            <a:avLst/>
            <a:gdLst/>
            <a:ahLst/>
            <a:cxnLst/>
            <a:rect l="l" t="t" r="r" b="b"/>
            <a:pathLst>
              <a:path w="3383280" h="1280160">
                <a:moveTo>
                  <a:pt x="160020" y="0"/>
                </a:moveTo>
                <a:lnTo>
                  <a:pt x="3223260" y="0"/>
                </a:lnTo>
                <a:quadBezTo>
                  <a:pt x="3383280" y="0"/>
                  <a:pt x="3383280" y="160020"/>
                </a:quadBezTo>
                <a:lnTo>
                  <a:pt x="3383280" y="1120140"/>
                </a:lnTo>
                <a:quadBezTo>
                  <a:pt x="3383280" y="1280160"/>
                  <a:pt x="3223260" y="1280160"/>
                </a:quadBezTo>
                <a:lnTo>
                  <a:pt x="160020" y="1280160"/>
                </a:lnTo>
                <a:quadBezTo>
                  <a:pt x="0" y="1280160"/>
                  <a:pt x="0" y="1120140"/>
                </a:quadBezTo>
                <a:lnTo>
                  <a:pt x="0" y="160020"/>
                </a:lnTo>
                <a:quadBezTo>
                  <a:pt x="0" y="0"/>
                  <a:pt x="160020" y="0"/>
                </a:quad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en-ZA">
              <a:solidFill>
                <a:srgbClr val="002060"/>
              </a:solidFill>
            </a:endParaRPr>
          </a:p>
        </p:txBody>
      </p:sp>
      <p:sp>
        <p:nvSpPr>
          <p:cNvPr id="24" name="Shape 19"/>
          <p:cNvSpPr/>
          <p:nvPr/>
        </p:nvSpPr>
        <p:spPr>
          <a:xfrm>
            <a:off x="5142448" y="2272378"/>
            <a:ext cx="1243584" cy="1243584"/>
          </a:xfrm>
          <a:custGeom>
            <a:avLst/>
            <a:gdLst/>
            <a:ahLst/>
            <a:cxnLst/>
            <a:rect l="l" t="t" r="r" b="b"/>
            <a:pathLst>
              <a:path w="1243584" h="1243584">
                <a:moveTo>
                  <a:pt x="621792" y="0"/>
                </a:moveTo>
                <a:cubicBezTo>
                  <a:pt x="964968" y="0"/>
                  <a:pt x="1243584" y="278616"/>
                  <a:pt x="1243584" y="621792"/>
                </a:cubicBezTo>
                <a:cubicBezTo>
                  <a:pt x="1243584" y="964968"/>
                  <a:pt x="964968" y="1243584"/>
                  <a:pt x="621792" y="1243584"/>
                </a:cubicBezTo>
                <a:cubicBezTo>
                  <a:pt x="278616" y="1243584"/>
                  <a:pt x="0" y="964968"/>
                  <a:pt x="0" y="621792"/>
                </a:cubicBezTo>
                <a:cubicBezTo>
                  <a:pt x="0" y="278616"/>
                  <a:pt x="278616" y="0"/>
                  <a:pt x="621792" y="0"/>
                </a:cubicBezTo>
                <a:close/>
              </a:path>
            </a:pathLst>
          </a:custGeom>
          <a:solidFill>
            <a:schemeClr val="bg1"/>
          </a:solidFill>
          <a:ln w="38100">
            <a:solidFill>
              <a:srgbClr val="FFFFFF"/>
            </a:solidFill>
            <a:prstDash val="solid"/>
          </a:ln>
          <a:effectLst>
            <a:outerShdw blurRad="19050" dist="38100" dir="2700000" algn="bl" rotWithShape="0">
              <a:srgbClr val="808080">
                <a:alpha val="100000"/>
              </a:srgbClr>
            </a:outerShdw>
          </a:effectLst>
        </p:spPr>
        <p:txBody>
          <a:bodyPr/>
          <a:lstStyle/>
          <a:p>
            <a:endParaRPr lang="en-ZA" dirty="0"/>
          </a:p>
        </p:txBody>
      </p:sp>
      <p:pic>
        <p:nvPicPr>
          <p:cNvPr id="25" name="Image 3"/>
          <p:cNvPicPr>
            <a:picLocks noChangeAspect="1"/>
          </p:cNvPicPr>
          <p:nvPr/>
        </p:nvPicPr>
        <p:blipFill rotWithShape="1">
          <a:blip r:embed="rId6"/>
          <a:srcRect l="855" t="-32157" r="-19772" b="-5698"/>
          <a:stretch>
            <a:fillRect/>
          </a:stretch>
        </p:blipFill>
        <p:spPr>
          <a:xfrm>
            <a:off x="5203397" y="2180848"/>
            <a:ext cx="1271477" cy="1272690"/>
          </a:xfrm>
          <a:prstGeom prst="ellipse">
            <a:avLst/>
          </a:prstGeom>
          <a:effectLst/>
        </p:spPr>
      </p:pic>
      <p:sp>
        <p:nvSpPr>
          <p:cNvPr id="26" name="Text 20"/>
          <p:cNvSpPr/>
          <p:nvPr/>
        </p:nvSpPr>
        <p:spPr>
          <a:xfrm>
            <a:off x="6468789" y="2249744"/>
            <a:ext cx="2560320" cy="53707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14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Rail Sliding and Road Leveling</a:t>
            </a:r>
            <a:endParaRPr lang="en-US" sz="1500" dirty="0">
              <a:solidFill>
                <a:srgbClr val="002060"/>
              </a:solidFill>
            </a:endParaRPr>
          </a:p>
        </p:txBody>
      </p:sp>
      <p:sp>
        <p:nvSpPr>
          <p:cNvPr id="27" name="Text 21"/>
          <p:cNvSpPr/>
          <p:nvPr/>
        </p:nvSpPr>
        <p:spPr>
          <a:xfrm>
            <a:off x="6468789" y="2686685"/>
            <a:ext cx="2560320" cy="972061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1100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Wagon Loading of Coal and road leveling for efficient and smooth operations</a:t>
            </a:r>
          </a:p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1100" b="1" dirty="0">
                <a:solidFill>
                  <a:srgbClr val="002060"/>
                </a:solidFill>
                <a:latin typeface="Arial" pitchFamily="34" charset="0"/>
                <a:cs typeface="Arial" pitchFamily="34" charset="-120"/>
              </a:rPr>
              <a:t>Date: 2020-2023</a:t>
            </a:r>
          </a:p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1100" b="1" dirty="0">
                <a:solidFill>
                  <a:srgbClr val="002060"/>
                </a:solidFill>
                <a:latin typeface="Arial" pitchFamily="34" charset="0"/>
                <a:cs typeface="Arial" pitchFamily="34" charset="-120"/>
              </a:rPr>
              <a:t>Value: R 24 951,600.00</a:t>
            </a:r>
            <a:endParaRPr lang="en-US" sz="1500" b="1" dirty="0">
              <a:solidFill>
                <a:srgbClr val="002060"/>
              </a:solidFill>
            </a:endParaRPr>
          </a:p>
        </p:txBody>
      </p:sp>
      <p:sp>
        <p:nvSpPr>
          <p:cNvPr id="29" name="Text 1">
            <a:extLst>
              <a:ext uri="{FF2B5EF4-FFF2-40B4-BE49-F238E27FC236}">
                <a16:creationId xmlns:a16="http://schemas.microsoft.com/office/drawing/2014/main" id="{5BEE51F0-968C-5D36-CBBB-416FC56835C6}"/>
              </a:ext>
            </a:extLst>
          </p:cNvPr>
          <p:cNvSpPr/>
          <p:nvPr/>
        </p:nvSpPr>
        <p:spPr>
          <a:xfrm>
            <a:off x="1086201" y="92404"/>
            <a:ext cx="3657600" cy="755809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23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3 Current Projects and Key Collaborations</a:t>
            </a:r>
            <a:endParaRPr lang="en-US" sz="1500" dirty="0"/>
          </a:p>
        </p:txBody>
      </p:sp>
      <p:sp>
        <p:nvSpPr>
          <p:cNvPr id="30" name="Shape 14">
            <a:extLst>
              <a:ext uri="{FF2B5EF4-FFF2-40B4-BE49-F238E27FC236}">
                <a16:creationId xmlns:a16="http://schemas.microsoft.com/office/drawing/2014/main" id="{0D257233-25D4-2343-6D26-1D5DF5D56906}"/>
              </a:ext>
            </a:extLst>
          </p:cNvPr>
          <p:cNvSpPr/>
          <p:nvPr/>
        </p:nvSpPr>
        <p:spPr>
          <a:xfrm>
            <a:off x="5664672" y="3607492"/>
            <a:ext cx="3383280" cy="1359513"/>
          </a:xfrm>
          <a:custGeom>
            <a:avLst/>
            <a:gdLst/>
            <a:ahLst/>
            <a:cxnLst/>
            <a:rect l="l" t="t" r="r" b="b"/>
            <a:pathLst>
              <a:path w="3383280" h="1280160">
                <a:moveTo>
                  <a:pt x="160020" y="0"/>
                </a:moveTo>
                <a:lnTo>
                  <a:pt x="3223260" y="0"/>
                </a:lnTo>
                <a:quadBezTo>
                  <a:pt x="3383280" y="0"/>
                  <a:pt x="3383280" y="160020"/>
                </a:quadBezTo>
                <a:lnTo>
                  <a:pt x="3383280" y="1120140"/>
                </a:lnTo>
                <a:quadBezTo>
                  <a:pt x="3383280" y="1280160"/>
                  <a:pt x="3223260" y="1280160"/>
                </a:quadBezTo>
                <a:lnTo>
                  <a:pt x="160020" y="1280160"/>
                </a:lnTo>
                <a:quadBezTo>
                  <a:pt x="0" y="1280160"/>
                  <a:pt x="0" y="1120140"/>
                </a:quadBezTo>
                <a:lnTo>
                  <a:pt x="0" y="160020"/>
                </a:lnTo>
                <a:quadBezTo>
                  <a:pt x="0" y="0"/>
                  <a:pt x="160020" y="0"/>
                </a:quad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2" name="Shape 15">
            <a:extLst>
              <a:ext uri="{FF2B5EF4-FFF2-40B4-BE49-F238E27FC236}">
                <a16:creationId xmlns:a16="http://schemas.microsoft.com/office/drawing/2014/main" id="{0B24726D-E3A3-89A7-E53D-81DB69C3E7C9}"/>
              </a:ext>
            </a:extLst>
          </p:cNvPr>
          <p:cNvSpPr/>
          <p:nvPr/>
        </p:nvSpPr>
        <p:spPr>
          <a:xfrm>
            <a:off x="5042880" y="3622884"/>
            <a:ext cx="1243584" cy="1359512"/>
          </a:xfrm>
          <a:custGeom>
            <a:avLst/>
            <a:gdLst/>
            <a:ahLst/>
            <a:cxnLst/>
            <a:rect l="l" t="t" r="r" b="b"/>
            <a:pathLst>
              <a:path w="1243584" h="1243584">
                <a:moveTo>
                  <a:pt x="621792" y="0"/>
                </a:moveTo>
                <a:cubicBezTo>
                  <a:pt x="964968" y="0"/>
                  <a:pt x="1243584" y="278616"/>
                  <a:pt x="1243584" y="621792"/>
                </a:cubicBezTo>
                <a:cubicBezTo>
                  <a:pt x="1243584" y="964968"/>
                  <a:pt x="964968" y="1243584"/>
                  <a:pt x="621792" y="1243584"/>
                </a:cubicBezTo>
                <a:cubicBezTo>
                  <a:pt x="278616" y="1243584"/>
                  <a:pt x="0" y="964968"/>
                  <a:pt x="0" y="621792"/>
                </a:cubicBezTo>
                <a:cubicBezTo>
                  <a:pt x="0" y="278616"/>
                  <a:pt x="278616" y="0"/>
                  <a:pt x="621792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 w="38100">
            <a:solidFill>
              <a:srgbClr val="FFFFFF"/>
            </a:solidFill>
            <a:prstDash val="solid"/>
          </a:ln>
          <a:effectLst>
            <a:outerShdw blurRad="19050" dist="38100" dir="2700000" algn="bl" rotWithShape="0">
              <a:srgbClr val="808080">
                <a:alpha val="100000"/>
              </a:srgbClr>
            </a:outerShdw>
          </a:effectLst>
        </p:spPr>
        <p:txBody>
          <a:bodyPr/>
          <a:lstStyle/>
          <a:p>
            <a:endParaRPr lang="en-ZA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6A7C87BA-6624-3207-18A3-B61E0F1A507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618736" y="3784701"/>
            <a:ext cx="2107170" cy="1016972"/>
          </a:xfrm>
          <a:prstGeom prst="rect">
            <a:avLst/>
          </a:prstGeom>
        </p:spPr>
      </p:pic>
      <p:sp>
        <p:nvSpPr>
          <p:cNvPr id="34" name="Text 20">
            <a:extLst>
              <a:ext uri="{FF2B5EF4-FFF2-40B4-BE49-F238E27FC236}">
                <a16:creationId xmlns:a16="http://schemas.microsoft.com/office/drawing/2014/main" id="{BF6C1A8A-BAD4-6EE6-B0AF-B4E522C4C579}"/>
              </a:ext>
            </a:extLst>
          </p:cNvPr>
          <p:cNvSpPr/>
          <p:nvPr/>
        </p:nvSpPr>
        <p:spPr>
          <a:xfrm>
            <a:off x="6330491" y="3631891"/>
            <a:ext cx="2560320" cy="53707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1400" b="1" dirty="0">
                <a:solidFill>
                  <a:srgbClr val="002060"/>
                </a:solidFill>
                <a:latin typeface="Arial" pitchFamily="34" charset="0"/>
                <a:cs typeface="Arial" pitchFamily="34" charset="-120"/>
              </a:rPr>
              <a:t>Emalahleni Local Municipality</a:t>
            </a:r>
            <a:endParaRPr lang="en-US" sz="1500" dirty="0">
              <a:solidFill>
                <a:srgbClr val="002060"/>
              </a:solidFill>
            </a:endParaRPr>
          </a:p>
        </p:txBody>
      </p:sp>
      <p:sp>
        <p:nvSpPr>
          <p:cNvPr id="35" name="Text 21">
            <a:extLst>
              <a:ext uri="{FF2B5EF4-FFF2-40B4-BE49-F238E27FC236}">
                <a16:creationId xmlns:a16="http://schemas.microsoft.com/office/drawing/2014/main" id="{5C96BC99-E896-9037-B3F4-17C6AE944312}"/>
              </a:ext>
            </a:extLst>
          </p:cNvPr>
          <p:cNvSpPr/>
          <p:nvPr/>
        </p:nvSpPr>
        <p:spPr>
          <a:xfrm>
            <a:off x="6313896" y="4084059"/>
            <a:ext cx="2830104" cy="972061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1100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And Sanitation Project for the community ,Services is to supply  Water Trucks and distribution of water</a:t>
            </a:r>
          </a:p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1100" b="1" dirty="0">
                <a:solidFill>
                  <a:srgbClr val="002060"/>
                </a:solidFill>
                <a:latin typeface="Arial" pitchFamily="34" charset="0"/>
                <a:cs typeface="Arial" pitchFamily="34" charset="-120"/>
              </a:rPr>
              <a:t>Date:2024-Current</a:t>
            </a:r>
          </a:p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1100" b="1" dirty="0">
                <a:solidFill>
                  <a:srgbClr val="002060"/>
                </a:solidFill>
                <a:latin typeface="Arial" pitchFamily="34" charset="0"/>
                <a:cs typeface="Arial" pitchFamily="34" charset="-120"/>
              </a:rPr>
              <a:t>Value: R18 092,400.00</a:t>
            </a:r>
            <a:endParaRPr lang="en-US" sz="1500" b="1" dirty="0">
              <a:solidFill>
                <a:srgbClr val="002060"/>
              </a:solidFill>
            </a:endParaRPr>
          </a:p>
        </p:txBody>
      </p:sp>
      <p:sp>
        <p:nvSpPr>
          <p:cNvPr id="36" name="Shape 14">
            <a:extLst>
              <a:ext uri="{FF2B5EF4-FFF2-40B4-BE49-F238E27FC236}">
                <a16:creationId xmlns:a16="http://schemas.microsoft.com/office/drawing/2014/main" id="{ADB35DB4-8A67-0807-56E5-18EFE8DA7709}"/>
              </a:ext>
            </a:extLst>
          </p:cNvPr>
          <p:cNvSpPr/>
          <p:nvPr/>
        </p:nvSpPr>
        <p:spPr>
          <a:xfrm>
            <a:off x="179236" y="3738704"/>
            <a:ext cx="3734288" cy="1370693"/>
          </a:xfrm>
          <a:custGeom>
            <a:avLst/>
            <a:gdLst/>
            <a:ahLst/>
            <a:cxnLst/>
            <a:rect l="l" t="t" r="r" b="b"/>
            <a:pathLst>
              <a:path w="3383280" h="1280160">
                <a:moveTo>
                  <a:pt x="160020" y="0"/>
                </a:moveTo>
                <a:lnTo>
                  <a:pt x="3223260" y="0"/>
                </a:lnTo>
                <a:quadBezTo>
                  <a:pt x="3383280" y="0"/>
                  <a:pt x="3383280" y="160020"/>
                </a:quadBezTo>
                <a:lnTo>
                  <a:pt x="3383280" y="1120140"/>
                </a:lnTo>
                <a:quadBezTo>
                  <a:pt x="3383280" y="1280160"/>
                  <a:pt x="3223260" y="1280160"/>
                </a:quadBezTo>
                <a:lnTo>
                  <a:pt x="160020" y="1280160"/>
                </a:lnTo>
                <a:quadBezTo>
                  <a:pt x="0" y="1280160"/>
                  <a:pt x="0" y="1120140"/>
                </a:quadBezTo>
                <a:lnTo>
                  <a:pt x="0" y="160020"/>
                </a:lnTo>
                <a:quadBezTo>
                  <a:pt x="0" y="0"/>
                  <a:pt x="160020" y="0"/>
                </a:quadBezTo>
                <a:close/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38" name="Shape 15">
            <a:extLst>
              <a:ext uri="{FF2B5EF4-FFF2-40B4-BE49-F238E27FC236}">
                <a16:creationId xmlns:a16="http://schemas.microsoft.com/office/drawing/2014/main" id="{90C5BCD1-4C2A-D55F-5969-592AA77F9495}"/>
              </a:ext>
            </a:extLst>
          </p:cNvPr>
          <p:cNvSpPr/>
          <p:nvPr/>
        </p:nvSpPr>
        <p:spPr>
          <a:xfrm>
            <a:off x="68956" y="3756992"/>
            <a:ext cx="1243584" cy="1243584"/>
          </a:xfrm>
          <a:custGeom>
            <a:avLst/>
            <a:gdLst/>
            <a:ahLst/>
            <a:cxnLst/>
            <a:rect l="l" t="t" r="r" b="b"/>
            <a:pathLst>
              <a:path w="1243584" h="1243584">
                <a:moveTo>
                  <a:pt x="621792" y="0"/>
                </a:moveTo>
                <a:cubicBezTo>
                  <a:pt x="964968" y="0"/>
                  <a:pt x="1243584" y="278616"/>
                  <a:pt x="1243584" y="621792"/>
                </a:cubicBezTo>
                <a:cubicBezTo>
                  <a:pt x="1243584" y="964968"/>
                  <a:pt x="964968" y="1243584"/>
                  <a:pt x="621792" y="1243584"/>
                </a:cubicBezTo>
                <a:cubicBezTo>
                  <a:pt x="278616" y="1243584"/>
                  <a:pt x="0" y="964968"/>
                  <a:pt x="0" y="621792"/>
                </a:cubicBezTo>
                <a:cubicBezTo>
                  <a:pt x="0" y="278616"/>
                  <a:pt x="278616" y="0"/>
                  <a:pt x="621792" y="0"/>
                </a:cubicBezTo>
                <a:close/>
              </a:path>
            </a:pathLst>
          </a:custGeom>
          <a:solidFill>
            <a:srgbClr val="FF882A"/>
          </a:solidFill>
          <a:ln w="38100">
            <a:solidFill>
              <a:srgbClr val="FFFFFF"/>
            </a:solidFill>
            <a:prstDash val="solid"/>
          </a:ln>
          <a:effectLst>
            <a:outerShdw blurRad="19050" dist="38100" dir="2700000" algn="bl" rotWithShape="0">
              <a:srgbClr val="808080">
                <a:alpha val="100000"/>
              </a:srgbClr>
            </a:outerShdw>
          </a:effectLst>
        </p:spPr>
        <p:txBody>
          <a:bodyPr/>
          <a:lstStyle/>
          <a:p>
            <a:endParaRPr lang="en-ZA" dirty="0"/>
          </a:p>
        </p:txBody>
      </p:sp>
      <p:pic>
        <p:nvPicPr>
          <p:cNvPr id="39" name="Image 2">
            <a:extLst>
              <a:ext uri="{FF2B5EF4-FFF2-40B4-BE49-F238E27FC236}">
                <a16:creationId xmlns:a16="http://schemas.microsoft.com/office/drawing/2014/main" id="{4E202375-EA83-7EF0-2968-105AFCF61B43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96388" y="3815239"/>
            <a:ext cx="1188720" cy="1188720"/>
          </a:xfrm>
          <a:prstGeom prst="ellipse">
            <a:avLst/>
          </a:prstGeom>
        </p:spPr>
      </p:pic>
      <p:sp>
        <p:nvSpPr>
          <p:cNvPr id="40" name="Text 17">
            <a:extLst>
              <a:ext uri="{FF2B5EF4-FFF2-40B4-BE49-F238E27FC236}">
                <a16:creationId xmlns:a16="http://schemas.microsoft.com/office/drawing/2014/main" id="{08A20259-634E-D503-AB86-F39619FDA718}"/>
              </a:ext>
            </a:extLst>
          </p:cNvPr>
          <p:cNvSpPr/>
          <p:nvPr/>
        </p:nvSpPr>
        <p:spPr>
          <a:xfrm>
            <a:off x="1353204" y="4100228"/>
            <a:ext cx="2560320" cy="1107483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1100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Roof Support Services with a Manitou Cherry picker and Supply of Nets and </a:t>
            </a:r>
            <a:r>
              <a:rPr lang="en-GB" sz="1100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Roof Bolt Underground Anchor Rod Pneumatic machines  </a:t>
            </a:r>
            <a:r>
              <a:rPr lang="en-US" sz="1100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</a:p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1100" b="1" dirty="0">
                <a:solidFill>
                  <a:srgbClr val="002060"/>
                </a:solidFill>
                <a:latin typeface="Arial" pitchFamily="34" charset="0"/>
                <a:cs typeface="Arial" pitchFamily="34" charset="-120"/>
              </a:rPr>
              <a:t>Date: 2019-2020</a:t>
            </a:r>
          </a:p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1100" b="1" dirty="0">
                <a:solidFill>
                  <a:srgbClr val="002060"/>
                </a:solidFill>
                <a:latin typeface="Arial" pitchFamily="34" charset="0"/>
                <a:cs typeface="Arial" pitchFamily="34" charset="-120"/>
              </a:rPr>
              <a:t>Value: R 16 794,664.00</a:t>
            </a:r>
            <a:endParaRPr lang="en-US" sz="1500" b="1" dirty="0">
              <a:solidFill>
                <a:srgbClr val="002060"/>
              </a:solidFill>
            </a:endParaRPr>
          </a:p>
        </p:txBody>
      </p:sp>
      <p:sp>
        <p:nvSpPr>
          <p:cNvPr id="41" name="Text 16">
            <a:extLst>
              <a:ext uri="{FF2B5EF4-FFF2-40B4-BE49-F238E27FC236}">
                <a16:creationId xmlns:a16="http://schemas.microsoft.com/office/drawing/2014/main" id="{D91D532F-49C4-0B65-BC30-4197F2A6520D}"/>
              </a:ext>
            </a:extLst>
          </p:cNvPr>
          <p:cNvSpPr/>
          <p:nvPr/>
        </p:nvSpPr>
        <p:spPr>
          <a:xfrm>
            <a:off x="1367956" y="3687344"/>
            <a:ext cx="2560320" cy="53707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>
              <a:lnSpc>
                <a:spcPct val="80000"/>
              </a:lnSpc>
              <a:spcBef>
                <a:spcPts val="375"/>
              </a:spcBef>
            </a:pPr>
            <a:r>
              <a:rPr lang="en-US" sz="14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M&amp;R Cementation </a:t>
            </a:r>
            <a:r>
              <a:rPr lang="en-US" sz="1400" b="1" dirty="0" err="1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Khuthala</a:t>
            </a:r>
            <a:r>
              <a:rPr lang="en-US" sz="1400" b="1" dirty="0">
                <a:solidFill>
                  <a:srgbClr val="0020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Mine Roof Support Project</a:t>
            </a:r>
            <a:endParaRPr lang="en-US" sz="1500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713286" y="0"/>
            <a:ext cx="3433716" cy="5148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8861" y="1810941"/>
            <a:ext cx="4830775" cy="689943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>
              <a:lnSpc>
                <a:spcPct val="96000"/>
              </a:lnSpc>
              <a:spcBef>
                <a:spcPts val="375"/>
              </a:spcBef>
            </a:pPr>
            <a:r>
              <a:rPr lang="en-US" sz="33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1119532" y="2684707"/>
            <a:ext cx="3609435" cy="50220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>
              <a:lnSpc>
                <a:spcPct val="96000"/>
              </a:lnSpc>
              <a:spcBef>
                <a:spcPts val="375"/>
              </a:spcBef>
            </a:pPr>
            <a:r>
              <a:rPr lang="en-US" sz="21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Gliss Projects Pty Ltd (SA)</a:t>
            </a:r>
            <a:endParaRPr lang="en-US" sz="150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Orange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231</TotalTime>
  <Words>482</Words>
  <Application>Microsoft Office PowerPoint</Application>
  <PresentationFormat>On-screen Show (16:9)</PresentationFormat>
  <Paragraphs>66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Corbel</vt:lpstr>
      <vt:lpstr>Parallax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Sibusiso Khumalo</cp:lastModifiedBy>
  <cp:revision>2</cp:revision>
  <dcterms:created xsi:type="dcterms:W3CDTF">2025-07-14T23:41:26Z</dcterms:created>
  <dcterms:modified xsi:type="dcterms:W3CDTF">2025-07-17T19:26:55Z</dcterms:modified>
</cp:coreProperties>
</file>